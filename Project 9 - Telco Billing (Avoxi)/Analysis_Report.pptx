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35" r:id="rId5"/>
    <p:sldId id="348" r:id="rId6"/>
    <p:sldId id="338" r:id="rId7"/>
    <p:sldId id="339" r:id="rId8"/>
    <p:sldId id="337" r:id="rId9"/>
    <p:sldId id="341" r:id="rId10"/>
    <p:sldId id="351" r:id="rId11"/>
    <p:sldId id="353" r:id="rId12"/>
    <p:sldId id="354" r:id="rId13"/>
    <p:sldId id="355" r:id="rId14"/>
    <p:sldId id="356" r:id="rId15"/>
    <p:sldId id="357" r:id="rId16"/>
    <p:sldId id="340" r:id="rId17"/>
    <p:sldId id="359" r:id="rId18"/>
    <p:sldId id="360" r:id="rId19"/>
    <p:sldId id="361" r:id="rId20"/>
    <p:sldId id="358" r:id="rId21"/>
    <p:sldId id="342" r:id="rId22"/>
    <p:sldId id="362" r:id="rId23"/>
    <p:sldId id="350" r:id="rId24"/>
    <p:sldId id="363" r:id="rId25"/>
    <p:sldId id="343" r:id="rId26"/>
    <p:sldId id="349" r:id="rId27"/>
    <p:sldId id="345" r:id="rId28"/>
    <p:sldId id="34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67" autoAdjust="0"/>
    <p:restoredTop sz="95394" autoAdjust="0"/>
  </p:normalViewPr>
  <p:slideViewPr>
    <p:cSldViewPr snapToGrid="0">
      <p:cViewPr varScale="1">
        <p:scale>
          <a:sx n="109" d="100"/>
          <a:sy n="109" d="100"/>
        </p:scale>
        <p:origin x="138" y="162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Data%20Analyst\Master_automate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Data%20Analyst\Master_automate.xlsm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Data%20Analyst\Master_automate.xlsm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Data%20Analyst\Master_automate.xlsm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Data%20Analyst\Master_automate.xlsm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Data%20Analyst\Master_automate.xlsm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[Master_automate.xlsm]Total Billing per Client!PivotTable1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10: Total Billing by Client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rgbClr val="F7EEDD"/>
          </a:solidFill>
          <a:ln>
            <a:solidFill>
              <a:schemeClr val="accent1">
                <a:shade val="15000"/>
                <a:alpha val="0"/>
              </a:schemeClr>
            </a:solidFill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rgbClr val="000000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000000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</c:pivotFmt>
      <c:pivotFmt>
        <c:idx val="16"/>
        <c:spPr>
          <a:solidFill>
            <a:srgbClr val="F7EEDD"/>
          </a:solidFill>
          <a:ln>
            <a:solidFill>
              <a:schemeClr val="accent1">
                <a:shade val="15000"/>
                <a:alpha val="0"/>
              </a:schemeClr>
            </a:solidFill>
          </a:ln>
          <a:effectLst/>
        </c:spP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000000"/>
          </a:solidFill>
          <a:ln>
            <a:noFill/>
          </a:ln>
          <a:effectLst/>
        </c:spP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</c:pivotFmt>
      <c:pivotFmt>
        <c:idx val="27"/>
        <c:spPr>
          <a:solidFill>
            <a:srgbClr val="F7EEDD"/>
          </a:solidFill>
          <a:ln>
            <a:solidFill>
              <a:schemeClr val="accent1">
                <a:shade val="15000"/>
                <a:alpha val="0"/>
              </a:schemeClr>
            </a:solidFill>
          </a:ln>
          <a:effectLst/>
        </c:spPr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'Total Billing per Client'!$B$1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C1-486E-B1EF-DCDF69C335D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C1-486E-B1EF-DCDF69C335D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C1-486E-B1EF-DCDF69C335D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C1-486E-B1EF-DCDF69C335DE}"/>
              </c:ext>
            </c:extLst>
          </c:dPt>
          <c:dPt>
            <c:idx val="4"/>
            <c:invertIfNegative val="0"/>
            <c:bubble3D val="0"/>
            <c:spPr>
              <a:solidFill>
                <a:srgbClr val="F7EEDD"/>
              </a:solidFill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EC1-486E-B1EF-DCDF69C335D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EC1-486E-B1EF-DCDF69C335D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EC1-486E-B1EF-DCDF69C335D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EC1-486E-B1EF-DCDF69C335D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EC1-486E-B1EF-DCDF69C335D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4EC1-486E-B1EF-DCDF69C335DE}"/>
              </c:ext>
            </c:extLst>
          </c:dPt>
          <c:cat>
            <c:strRef>
              <c:f>'Total Billing per Client'!$A$2:$A$12</c:f>
              <c:strCache>
                <c:ptCount val="10"/>
                <c:pt idx="0">
                  <c:v>Client 22 </c:v>
                </c:pt>
                <c:pt idx="1">
                  <c:v>Client 2</c:v>
                </c:pt>
                <c:pt idx="2">
                  <c:v>Client 15 </c:v>
                </c:pt>
                <c:pt idx="3">
                  <c:v>Client 1</c:v>
                </c:pt>
                <c:pt idx="4">
                  <c:v>Client 3 </c:v>
                </c:pt>
                <c:pt idx="5">
                  <c:v>Client 10 </c:v>
                </c:pt>
                <c:pt idx="6">
                  <c:v>Client 26 </c:v>
                </c:pt>
                <c:pt idx="7">
                  <c:v>Client 8 </c:v>
                </c:pt>
                <c:pt idx="8">
                  <c:v>Client 37 </c:v>
                </c:pt>
                <c:pt idx="9">
                  <c:v>Client 4 </c:v>
                </c:pt>
              </c:strCache>
            </c:strRef>
          </c:cat>
          <c:val>
            <c:numRef>
              <c:f>'Total Billing per Client'!$B$2:$B$12</c:f>
              <c:numCache>
                <c:formatCode>0.00</c:formatCode>
                <c:ptCount val="10"/>
                <c:pt idx="0">
                  <c:v>1459.0108200000034</c:v>
                </c:pt>
                <c:pt idx="1">
                  <c:v>1650.351389999998</c:v>
                </c:pt>
                <c:pt idx="2">
                  <c:v>2497.6752000000201</c:v>
                </c:pt>
                <c:pt idx="3">
                  <c:v>2584.7459000000185</c:v>
                </c:pt>
                <c:pt idx="4">
                  <c:v>4219.4091399999879</c:v>
                </c:pt>
                <c:pt idx="5">
                  <c:v>10418.977499998919</c:v>
                </c:pt>
                <c:pt idx="6">
                  <c:v>11504.188639999971</c:v>
                </c:pt>
                <c:pt idx="7">
                  <c:v>17142.291679999897</c:v>
                </c:pt>
                <c:pt idx="8">
                  <c:v>20384.754000000099</c:v>
                </c:pt>
                <c:pt idx="9">
                  <c:v>20431.432900000287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EC1-486E-B1EF-DCDF69C335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477110368"/>
        <c:axId val="1477112768"/>
      </c:barChart>
      <c:catAx>
        <c:axId val="1477110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112768"/>
        <c:crosses val="autoZero"/>
        <c:auto val="1"/>
        <c:lblAlgn val="ctr"/>
        <c:lblOffset val="100"/>
        <c:noMultiLvlLbl val="0"/>
      </c:catAx>
      <c:valAx>
        <c:axId val="1477112768"/>
        <c:scaling>
          <c:orientation val="minMax"/>
          <c:max val="2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>
            <a:softEdge rad="12700"/>
          </a:effectLst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110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95000"/>
        <a:alpha val="50000"/>
      </a:schemeClr>
    </a:solidFill>
    <a:ln w="9525" cap="flat" cmpd="sng" algn="ctr">
      <a:solidFill>
        <a:schemeClr val="bg1">
          <a:lumMod val="95000"/>
        </a:schemeClr>
      </a:solidFill>
      <a:round/>
    </a:ln>
    <a:effectLst>
      <a:outerShdw blurRad="50800" dist="38100" dir="2700000" algn="tl" rotWithShape="0">
        <a:schemeClr val="bg2">
          <a:alpha val="40000"/>
        </a:scheme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[Master_automate.xlsm]Gross Margin Client %!PivotTable1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Gross Margin by Client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DD6236"/>
          </a:solidFill>
          <a:ln w="9525" cap="flat" cmpd="sng" algn="ctr">
            <a:solidFill>
              <a:srgbClr val="DD6236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DD6236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6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7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8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9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10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11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12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13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14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15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16"/>
        <c:spPr>
          <a:solidFill>
            <a:srgbClr val="DD6236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17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18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19"/>
        <c:spPr>
          <a:solidFill>
            <a:srgbClr val="DD6236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20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21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22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23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24"/>
        <c:spPr>
          <a:solidFill>
            <a:srgbClr val="DD6236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25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26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27"/>
        <c:spPr>
          <a:solidFill>
            <a:srgbClr val="DD6236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28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29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30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31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32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33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34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35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36"/>
        <c:spPr>
          <a:solidFill>
            <a:srgbClr val="DD6236"/>
          </a:solidFill>
          <a:ln w="9525" cap="flat" cmpd="sng" algn="ctr">
            <a:solidFill>
              <a:srgbClr val="DD6236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38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39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40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41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42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43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44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45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46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47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48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49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50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51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52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53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54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55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56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57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58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59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60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61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62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63"/>
        <c:spPr>
          <a:solidFill>
            <a:srgbClr val="DD6236"/>
          </a:solidFill>
          <a:ln w="9525" cap="flat" cmpd="sng" algn="ctr">
            <a:solidFill>
              <a:srgbClr val="DD6236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65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66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67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68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69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70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71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72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73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74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75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76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77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78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79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80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81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82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83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84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85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86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87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88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  <c:pivotFmt>
        <c:idx val="89"/>
        <c:spPr>
          <a:solidFill>
            <a:srgbClr val="C4BCAB"/>
          </a:solidFill>
          <a:ln w="9525" cap="flat" cmpd="sng" algn="ctr">
            <a:solidFill>
              <a:srgbClr val="DD6236"/>
            </a:solidFill>
            <a:round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'Gross Margin Client %'!$B$1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DD6236"/>
            </a:solidFill>
            <a:ln w="9525" cap="flat" cmpd="sng" algn="ctr">
              <a:solidFill>
                <a:srgbClr val="DD6236"/>
              </a:solidFill>
              <a:round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B795-4FF0-9DFF-D0696BA96865}"/>
              </c:ext>
            </c:extLst>
          </c:dPt>
          <c:dPt>
            <c:idx val="3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795-4FF0-9DFF-D0696BA96865}"/>
              </c:ext>
            </c:extLst>
          </c:dPt>
          <c:dPt>
            <c:idx val="5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B795-4FF0-9DFF-D0696BA96865}"/>
              </c:ext>
            </c:extLst>
          </c:dPt>
          <c:dPt>
            <c:idx val="7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B795-4FF0-9DFF-D0696BA96865}"/>
              </c:ext>
            </c:extLst>
          </c:dPt>
          <c:dPt>
            <c:idx val="9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B795-4FF0-9DFF-D0696BA96865}"/>
              </c:ext>
            </c:extLst>
          </c:dPt>
          <c:dPt>
            <c:idx val="11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B795-4FF0-9DFF-D0696BA96865}"/>
              </c:ext>
            </c:extLst>
          </c:dPt>
          <c:dPt>
            <c:idx val="13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D-B795-4FF0-9DFF-D0696BA96865}"/>
              </c:ext>
            </c:extLst>
          </c:dPt>
          <c:dPt>
            <c:idx val="15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F-B795-4FF0-9DFF-D0696BA96865}"/>
              </c:ext>
            </c:extLst>
          </c:dPt>
          <c:dPt>
            <c:idx val="17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1-B795-4FF0-9DFF-D0696BA96865}"/>
              </c:ext>
            </c:extLst>
          </c:dPt>
          <c:dPt>
            <c:idx val="19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3-B795-4FF0-9DFF-D0696BA96865}"/>
              </c:ext>
            </c:extLst>
          </c:dPt>
          <c:dPt>
            <c:idx val="20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5-B795-4FF0-9DFF-D0696BA96865}"/>
              </c:ext>
            </c:extLst>
          </c:dPt>
          <c:dPt>
            <c:idx val="2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B795-4FF0-9DFF-D0696BA96865}"/>
              </c:ext>
            </c:extLst>
          </c:dPt>
          <c:dPt>
            <c:idx val="23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8-B795-4FF0-9DFF-D0696BA96865}"/>
              </c:ext>
            </c:extLst>
          </c:dPt>
          <c:dPt>
            <c:idx val="25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A-B795-4FF0-9DFF-D0696BA96865}"/>
              </c:ext>
            </c:extLst>
          </c:dPt>
          <c:dPt>
            <c:idx val="26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C-B795-4FF0-9DFF-D0696BA96865}"/>
              </c:ext>
            </c:extLst>
          </c:dPt>
          <c:dPt>
            <c:idx val="2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B795-4FF0-9DFF-D0696BA96865}"/>
              </c:ext>
            </c:extLst>
          </c:dPt>
          <c:dPt>
            <c:idx val="29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F-B795-4FF0-9DFF-D0696BA96865}"/>
              </c:ext>
            </c:extLst>
          </c:dPt>
          <c:dPt>
            <c:idx val="31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1-B795-4FF0-9DFF-D0696BA96865}"/>
              </c:ext>
            </c:extLst>
          </c:dPt>
          <c:dPt>
            <c:idx val="33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3-B795-4FF0-9DFF-D0696BA96865}"/>
              </c:ext>
            </c:extLst>
          </c:dPt>
          <c:dPt>
            <c:idx val="35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5-B795-4FF0-9DFF-D0696BA96865}"/>
              </c:ext>
            </c:extLst>
          </c:dPt>
          <c:dPt>
            <c:idx val="36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7-B795-4FF0-9DFF-D0696BA96865}"/>
              </c:ext>
            </c:extLst>
          </c:dPt>
          <c:dPt>
            <c:idx val="3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8-B795-4FF0-9DFF-D0696BA96865}"/>
              </c:ext>
            </c:extLst>
          </c:dPt>
          <c:dPt>
            <c:idx val="39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A-B795-4FF0-9DFF-D0696BA96865}"/>
              </c:ext>
            </c:extLst>
          </c:dPt>
          <c:dPt>
            <c:idx val="41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C-B795-4FF0-9DFF-D0696BA96865}"/>
              </c:ext>
            </c:extLst>
          </c:dPt>
          <c:dPt>
            <c:idx val="42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E-B795-4FF0-9DFF-D0696BA96865}"/>
              </c:ext>
            </c:extLst>
          </c:dPt>
          <c:dPt>
            <c:idx val="4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F-B795-4FF0-9DFF-D0696BA96865}"/>
              </c:ext>
            </c:extLst>
          </c:dPt>
          <c:dPt>
            <c:idx val="4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0-B795-4FF0-9DFF-D0696BA96865}"/>
              </c:ext>
            </c:extLst>
          </c:dPt>
          <c:dPt>
            <c:idx val="45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2-B795-4FF0-9DFF-D0696BA96865}"/>
              </c:ext>
            </c:extLst>
          </c:dPt>
          <c:dPt>
            <c:idx val="47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4-B795-4FF0-9DFF-D0696BA96865}"/>
              </c:ext>
            </c:extLst>
          </c:dPt>
          <c:dPt>
            <c:idx val="49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6-B795-4FF0-9DFF-D0696BA96865}"/>
              </c:ext>
            </c:extLst>
          </c:dPt>
          <c:dPt>
            <c:idx val="51"/>
            <c:invertIfNegative val="0"/>
            <c:bubble3D val="0"/>
            <c:spPr>
              <a:solidFill>
                <a:srgbClr val="C4BCAB"/>
              </a:solidFill>
              <a:ln w="9525" cap="flat" cmpd="sng" algn="ctr">
                <a:solidFill>
                  <a:srgbClr val="DD623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8-B795-4FF0-9DFF-D0696BA96865}"/>
              </c:ext>
            </c:extLst>
          </c:dPt>
          <c:cat>
            <c:strRef>
              <c:f>'Gross Margin Client %'!$A$2:$A$54</c:f>
              <c:strCache>
                <c:ptCount val="53"/>
                <c:pt idx="0">
                  <c:v>Client 39 </c:v>
                </c:pt>
                <c:pt idx="1">
                  <c:v>Client 45 </c:v>
                </c:pt>
                <c:pt idx="2">
                  <c:v>Client 18 </c:v>
                </c:pt>
                <c:pt idx="3">
                  <c:v>Client 32 </c:v>
                </c:pt>
                <c:pt idx="4">
                  <c:v>Client 9 </c:v>
                </c:pt>
                <c:pt idx="5">
                  <c:v>Client 7 </c:v>
                </c:pt>
                <c:pt idx="6">
                  <c:v>Client 24 </c:v>
                </c:pt>
                <c:pt idx="7">
                  <c:v>Client 14 </c:v>
                </c:pt>
                <c:pt idx="8">
                  <c:v>Client 42 </c:v>
                </c:pt>
                <c:pt idx="9">
                  <c:v>Client 6 </c:v>
                </c:pt>
                <c:pt idx="10">
                  <c:v>Client 33 </c:v>
                </c:pt>
                <c:pt idx="11">
                  <c:v>Client 43 </c:v>
                </c:pt>
                <c:pt idx="12">
                  <c:v>Client 35 </c:v>
                </c:pt>
                <c:pt idx="13">
                  <c:v>Client 19 </c:v>
                </c:pt>
                <c:pt idx="14">
                  <c:v>Client 40 </c:v>
                </c:pt>
                <c:pt idx="15">
                  <c:v>Client 16 </c:v>
                </c:pt>
                <c:pt idx="16">
                  <c:v>Client 8 </c:v>
                </c:pt>
                <c:pt idx="17">
                  <c:v>Client 44 </c:v>
                </c:pt>
                <c:pt idx="18">
                  <c:v>Client 13 </c:v>
                </c:pt>
                <c:pt idx="19">
                  <c:v>Client 11 </c:v>
                </c:pt>
                <c:pt idx="20">
                  <c:v>Client 41 </c:v>
                </c:pt>
                <c:pt idx="21">
                  <c:v>Client 10 </c:v>
                </c:pt>
                <c:pt idx="22">
                  <c:v>Client 28 </c:v>
                </c:pt>
                <c:pt idx="23">
                  <c:v>Client 30 </c:v>
                </c:pt>
                <c:pt idx="24">
                  <c:v>Client 46 </c:v>
                </c:pt>
                <c:pt idx="25">
                  <c:v>Client 1</c:v>
                </c:pt>
                <c:pt idx="26">
                  <c:v>Client 17 </c:v>
                </c:pt>
                <c:pt idx="27">
                  <c:v>Client 52 </c:v>
                </c:pt>
                <c:pt idx="28">
                  <c:v>Client 34 </c:v>
                </c:pt>
                <c:pt idx="29">
                  <c:v>Client 47 </c:v>
                </c:pt>
                <c:pt idx="30">
                  <c:v>Client 38 </c:v>
                </c:pt>
                <c:pt idx="31">
                  <c:v>Client 12 </c:v>
                </c:pt>
                <c:pt idx="32">
                  <c:v>Client 20 </c:v>
                </c:pt>
                <c:pt idx="33">
                  <c:v>Client 53 </c:v>
                </c:pt>
                <c:pt idx="34">
                  <c:v>Client 36 </c:v>
                </c:pt>
                <c:pt idx="35">
                  <c:v>Client 5 </c:v>
                </c:pt>
                <c:pt idx="36">
                  <c:v>Client 51 </c:v>
                </c:pt>
                <c:pt idx="37">
                  <c:v>Client 31 </c:v>
                </c:pt>
                <c:pt idx="38">
                  <c:v>Client 49 </c:v>
                </c:pt>
                <c:pt idx="39">
                  <c:v>Client 37 </c:v>
                </c:pt>
                <c:pt idx="40">
                  <c:v>Client 4 </c:v>
                </c:pt>
                <c:pt idx="41">
                  <c:v>Client 25 </c:v>
                </c:pt>
                <c:pt idx="42">
                  <c:v>Client 3 </c:v>
                </c:pt>
                <c:pt idx="43">
                  <c:v>Client 2</c:v>
                </c:pt>
                <c:pt idx="44">
                  <c:v>Client 29 </c:v>
                </c:pt>
                <c:pt idx="45">
                  <c:v>Client 50 </c:v>
                </c:pt>
                <c:pt idx="46">
                  <c:v>Client 48 </c:v>
                </c:pt>
                <c:pt idx="47">
                  <c:v>Client 15 </c:v>
                </c:pt>
                <c:pt idx="48">
                  <c:v>Client 21 </c:v>
                </c:pt>
                <c:pt idx="49">
                  <c:v>Client 22 </c:v>
                </c:pt>
                <c:pt idx="50">
                  <c:v>Client 26 </c:v>
                </c:pt>
                <c:pt idx="51">
                  <c:v>Client 27 </c:v>
                </c:pt>
                <c:pt idx="52">
                  <c:v>Client 23 </c:v>
                </c:pt>
              </c:strCache>
            </c:strRef>
          </c:cat>
          <c:val>
            <c:numRef>
              <c:f>'Gross Margin Client %'!$B$2:$B$54</c:f>
              <c:numCache>
                <c:formatCode>0.00%</c:formatCode>
                <c:ptCount val="53"/>
                <c:pt idx="0">
                  <c:v>0.98227392739273922</c:v>
                </c:pt>
                <c:pt idx="1">
                  <c:v>0.90586089066603714</c:v>
                </c:pt>
                <c:pt idx="2">
                  <c:v>0.86927231565329888</c:v>
                </c:pt>
                <c:pt idx="3">
                  <c:v>0.85619225967540569</c:v>
                </c:pt>
                <c:pt idx="4">
                  <c:v>0.84199387165989992</c:v>
                </c:pt>
                <c:pt idx="5">
                  <c:v>0.73704575833118968</c:v>
                </c:pt>
                <c:pt idx="6">
                  <c:v>0.7</c:v>
                </c:pt>
                <c:pt idx="7">
                  <c:v>0.69999213126679005</c:v>
                </c:pt>
                <c:pt idx="8">
                  <c:v>0.64885708182012414</c:v>
                </c:pt>
                <c:pt idx="9">
                  <c:v>0.63917910142808743</c:v>
                </c:pt>
                <c:pt idx="10">
                  <c:v>0.62520735084961443</c:v>
                </c:pt>
                <c:pt idx="11">
                  <c:v>0.62492615024970755</c:v>
                </c:pt>
                <c:pt idx="12">
                  <c:v>0.57374999999999987</c:v>
                </c:pt>
                <c:pt idx="13">
                  <c:v>0.56071361688014809</c:v>
                </c:pt>
                <c:pt idx="14">
                  <c:v>0.55549999999999999</c:v>
                </c:pt>
                <c:pt idx="15">
                  <c:v>0.55056203505491197</c:v>
                </c:pt>
                <c:pt idx="16">
                  <c:v>0.54609401686192616</c:v>
                </c:pt>
                <c:pt idx="17">
                  <c:v>0.54359801101244931</c:v>
                </c:pt>
                <c:pt idx="18">
                  <c:v>0.53011088709677412</c:v>
                </c:pt>
                <c:pt idx="19">
                  <c:v>0.51197988898012481</c:v>
                </c:pt>
                <c:pt idx="20">
                  <c:v>0.47567911706769966</c:v>
                </c:pt>
                <c:pt idx="21">
                  <c:v>0.47483581090365745</c:v>
                </c:pt>
                <c:pt idx="22">
                  <c:v>0.466626308132714</c:v>
                </c:pt>
                <c:pt idx="23">
                  <c:v>0.45866603053435134</c:v>
                </c:pt>
                <c:pt idx="24">
                  <c:v>0.4500000000000004</c:v>
                </c:pt>
                <c:pt idx="25">
                  <c:v>0.44737456188635638</c:v>
                </c:pt>
                <c:pt idx="26">
                  <c:v>0.4302023871302541</c:v>
                </c:pt>
                <c:pt idx="27">
                  <c:v>0.43009027492819096</c:v>
                </c:pt>
                <c:pt idx="28">
                  <c:v>0.40679576117585059</c:v>
                </c:pt>
                <c:pt idx="29">
                  <c:v>0.40284645124573548</c:v>
                </c:pt>
                <c:pt idx="30">
                  <c:v>0.39843077088303536</c:v>
                </c:pt>
                <c:pt idx="31">
                  <c:v>0.39375413836267076</c:v>
                </c:pt>
                <c:pt idx="32">
                  <c:v>0.3886042224904947</c:v>
                </c:pt>
                <c:pt idx="33">
                  <c:v>0.38805829705217265</c:v>
                </c:pt>
                <c:pt idx="34">
                  <c:v>0.38000000000000006</c:v>
                </c:pt>
                <c:pt idx="35">
                  <c:v>0.3702847299164076</c:v>
                </c:pt>
                <c:pt idx="36">
                  <c:v>0.36985889467495409</c:v>
                </c:pt>
                <c:pt idx="37">
                  <c:v>0.36923127741815998</c:v>
                </c:pt>
                <c:pt idx="38">
                  <c:v>0.36562698559446022</c:v>
                </c:pt>
                <c:pt idx="39">
                  <c:v>0.36310130600545948</c:v>
                </c:pt>
                <c:pt idx="40">
                  <c:v>0.36235588306030553</c:v>
                </c:pt>
                <c:pt idx="41">
                  <c:v>0.35540540540540549</c:v>
                </c:pt>
                <c:pt idx="42">
                  <c:v>0.33014741888719012</c:v>
                </c:pt>
                <c:pt idx="43">
                  <c:v>0.32931827405152103</c:v>
                </c:pt>
                <c:pt idx="44">
                  <c:v>0.32671404029361217</c:v>
                </c:pt>
                <c:pt idx="45">
                  <c:v>0.3223600442625309</c:v>
                </c:pt>
                <c:pt idx="46">
                  <c:v>0.31099535859363964</c:v>
                </c:pt>
                <c:pt idx="47">
                  <c:v>0.30825904958874434</c:v>
                </c:pt>
                <c:pt idx="48">
                  <c:v>0.30774999218093763</c:v>
                </c:pt>
                <c:pt idx="49">
                  <c:v>0.30157633759015062</c:v>
                </c:pt>
                <c:pt idx="50">
                  <c:v>0.25688502989173861</c:v>
                </c:pt>
                <c:pt idx="51">
                  <c:v>0.24939910146012761</c:v>
                </c:pt>
                <c:pt idx="52">
                  <c:v>0.19999999999999996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9-B795-4FF0-9DFF-D0696BA968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90579215"/>
        <c:axId val="290579695"/>
      </c:barChart>
      <c:catAx>
        <c:axId val="290579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0579695"/>
        <c:crosses val="autoZero"/>
        <c:auto val="1"/>
        <c:lblAlgn val="ctr"/>
        <c:lblOffset val="100"/>
        <c:noMultiLvlLbl val="0"/>
      </c:catAx>
      <c:valAx>
        <c:axId val="290579695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0579215"/>
        <c:crosses val="autoZero"/>
        <c:crossBetween val="between"/>
      </c:valAx>
      <c:spPr>
        <a:noFill/>
        <a:ln>
          <a:noFill/>
        </a:ln>
        <a:effectLst>
          <a:innerShdw blurRad="114300">
            <a:prstClr val="black"/>
          </a:innerShdw>
        </a:effectLst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95000"/>
        <a:alpha val="50000"/>
      </a:schemeClr>
    </a:solidFill>
    <a:ln w="9525" cap="flat" cmpd="sng" algn="ctr">
      <a:solidFill>
        <a:schemeClr val="bg1">
          <a:lumMod val="95000"/>
        </a:schemeClr>
      </a:solidFill>
      <a:round/>
    </a:ln>
    <a:effectLst>
      <a:outerShdw blurRad="50800" dist="38100" dir="2700000" algn="tl" rotWithShape="0">
        <a:schemeClr val="bg2">
          <a:alpha val="40000"/>
        </a:schemeClr>
      </a:outerShdw>
    </a:effectLst>
  </c:spPr>
  <c:txPr>
    <a:bodyPr/>
    <a:lstStyle/>
    <a:p>
      <a:pPr>
        <a:defRPr>
          <a:solidFill>
            <a:schemeClr val="dk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[Master_automate.xlsm]Gross Magin Country %!PivotTable2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Margin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C00000"/>
          </a:solidFill>
          <a:ln>
            <a:noFill/>
          </a:ln>
          <a:effectLst/>
        </c:spPr>
      </c:pivotFmt>
      <c:pivotFmt>
        <c:idx val="2"/>
        <c:spPr>
          <a:solidFill>
            <a:srgbClr val="EDE4D3"/>
          </a:solidFill>
          <a:ln>
            <a:noFill/>
          </a:ln>
          <a:effectLst/>
        </c:spPr>
      </c:pivotFmt>
      <c:pivotFmt>
        <c:idx val="3"/>
        <c:spPr>
          <a:solidFill>
            <a:srgbClr val="DD6236"/>
          </a:solidFill>
          <a:ln>
            <a:noFill/>
          </a:ln>
          <a:effectLst/>
        </c:spPr>
      </c:pivotFmt>
      <c:pivotFmt>
        <c:idx val="4"/>
        <c:spPr>
          <a:solidFill>
            <a:srgbClr val="C4BCAB"/>
          </a:solidFill>
          <a:ln>
            <a:noFill/>
          </a:ln>
          <a:effectLst/>
        </c:spPr>
      </c:pivotFmt>
      <c:pivotFmt>
        <c:idx val="5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7"/>
        <c:spPr>
          <a:solidFill>
            <a:srgbClr val="C8C8C8"/>
          </a:solidFill>
          <a:ln>
            <a:noFill/>
          </a:ln>
          <a:effectLst/>
        </c:spPr>
      </c:pivotFmt>
      <c:pivotFmt>
        <c:idx val="8"/>
        <c:spPr>
          <a:solidFill>
            <a:srgbClr val="23212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C00000"/>
          </a:solidFill>
          <a:ln>
            <a:noFill/>
          </a:ln>
          <a:effectLst/>
        </c:spPr>
      </c:pivotFmt>
      <c:pivotFmt>
        <c:idx val="11"/>
        <c:spPr>
          <a:solidFill>
            <a:srgbClr val="EDE4D3"/>
          </a:solidFill>
          <a:ln>
            <a:noFill/>
          </a:ln>
          <a:effectLst/>
        </c:spPr>
      </c:pivotFmt>
      <c:pivotFmt>
        <c:idx val="12"/>
        <c:spPr>
          <a:solidFill>
            <a:srgbClr val="DD6236"/>
          </a:solidFill>
          <a:ln>
            <a:noFill/>
          </a:ln>
          <a:effectLst/>
        </c:spPr>
      </c:pivotFmt>
      <c:pivotFmt>
        <c:idx val="13"/>
        <c:spPr>
          <a:solidFill>
            <a:srgbClr val="C4BCAB"/>
          </a:solidFill>
          <a:ln>
            <a:noFill/>
          </a:ln>
          <a:effectLst/>
        </c:spPr>
      </c:pivotFmt>
      <c:pivotFmt>
        <c:idx val="14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</c:pivotFmt>
      <c:pivotFmt>
        <c:idx val="15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16"/>
        <c:spPr>
          <a:solidFill>
            <a:srgbClr val="C8C8C8"/>
          </a:solidFill>
          <a:ln>
            <a:noFill/>
          </a:ln>
          <a:effectLst/>
        </c:spPr>
      </c:pivotFmt>
      <c:pivotFmt>
        <c:idx val="17"/>
        <c:spPr>
          <a:solidFill>
            <a:srgbClr val="232121"/>
          </a:solidFill>
          <a:ln>
            <a:noFill/>
          </a:ln>
          <a:effectLst/>
        </c:spP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C00000"/>
          </a:solidFill>
          <a:ln>
            <a:noFill/>
          </a:ln>
          <a:effectLst/>
        </c:spPr>
      </c:pivotFmt>
      <c:pivotFmt>
        <c:idx val="20"/>
        <c:spPr>
          <a:solidFill>
            <a:srgbClr val="EDE4D3"/>
          </a:solidFill>
          <a:ln>
            <a:noFill/>
          </a:ln>
          <a:effectLst/>
        </c:spPr>
      </c:pivotFmt>
      <c:pivotFmt>
        <c:idx val="21"/>
        <c:spPr>
          <a:solidFill>
            <a:srgbClr val="DD6236"/>
          </a:solidFill>
          <a:ln>
            <a:noFill/>
          </a:ln>
          <a:effectLst/>
        </c:spPr>
      </c:pivotFmt>
      <c:pivotFmt>
        <c:idx val="22"/>
        <c:spPr>
          <a:solidFill>
            <a:srgbClr val="C4BCAB"/>
          </a:solidFill>
          <a:ln>
            <a:noFill/>
          </a:ln>
          <a:effectLst/>
        </c:spPr>
      </c:pivotFmt>
      <c:pivotFmt>
        <c:idx val="23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</c:pivotFmt>
      <c:pivotFmt>
        <c:idx val="2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25"/>
        <c:spPr>
          <a:solidFill>
            <a:srgbClr val="C8C8C8"/>
          </a:solidFill>
          <a:ln>
            <a:noFill/>
          </a:ln>
          <a:effectLst/>
        </c:spPr>
      </c:pivotFmt>
      <c:pivotFmt>
        <c:idx val="26"/>
        <c:spPr>
          <a:solidFill>
            <a:srgbClr val="232121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'Gross Magin Country %'!$B$1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787-493C-9BD7-1A978E7670BF}"/>
              </c:ext>
            </c:extLst>
          </c:dPt>
          <c:dPt>
            <c:idx val="1"/>
            <c:invertIfNegative val="0"/>
            <c:bubble3D val="0"/>
            <c:spPr>
              <a:solidFill>
                <a:srgbClr val="EDE4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787-493C-9BD7-1A978E7670BF}"/>
              </c:ext>
            </c:extLst>
          </c:dPt>
          <c:dPt>
            <c:idx val="2"/>
            <c:invertIfNegative val="0"/>
            <c:bubble3D val="0"/>
            <c:spPr>
              <a:solidFill>
                <a:srgbClr val="DD623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787-493C-9BD7-1A978E7670BF}"/>
              </c:ext>
            </c:extLst>
          </c:dPt>
          <c:dPt>
            <c:idx val="3"/>
            <c:invertIfNegative val="0"/>
            <c:bubble3D val="0"/>
            <c:spPr>
              <a:solidFill>
                <a:srgbClr val="C4BCA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787-493C-9BD7-1A978E7670B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787-493C-9BD7-1A978E7670B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787-493C-9BD7-1A978E7670BF}"/>
              </c:ext>
            </c:extLst>
          </c:dPt>
          <c:dPt>
            <c:idx val="6"/>
            <c:invertIfNegative val="0"/>
            <c:bubble3D val="0"/>
            <c:spPr>
              <a:solidFill>
                <a:srgbClr val="C8C8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787-493C-9BD7-1A978E7670BF}"/>
              </c:ext>
            </c:extLst>
          </c:dPt>
          <c:dPt>
            <c:idx val="7"/>
            <c:invertIfNegative val="0"/>
            <c:bubble3D val="0"/>
            <c:spPr>
              <a:solidFill>
                <a:srgbClr val="23212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787-493C-9BD7-1A978E7670BF}"/>
              </c:ext>
            </c:extLst>
          </c:dPt>
          <c:cat>
            <c:strRef>
              <c:f>'Gross Magin Country %'!$A$2:$A$9</c:f>
              <c:strCache>
                <c:ptCount val="8"/>
                <c:pt idx="0">
                  <c:v>United Kingdom</c:v>
                </c:pt>
                <c:pt idx="1">
                  <c:v>France</c:v>
                </c:pt>
                <c:pt idx="2">
                  <c:v>South Africa</c:v>
                </c:pt>
                <c:pt idx="3">
                  <c:v>China</c:v>
                </c:pt>
                <c:pt idx="4">
                  <c:v>Greece</c:v>
                </c:pt>
                <c:pt idx="5">
                  <c:v>Australia</c:v>
                </c:pt>
                <c:pt idx="6">
                  <c:v>Chile</c:v>
                </c:pt>
                <c:pt idx="7">
                  <c:v>United States</c:v>
                </c:pt>
              </c:strCache>
            </c:strRef>
          </c:cat>
          <c:val>
            <c:numRef>
              <c:f>'Gross Magin Country %'!$B$2:$B$9</c:f>
              <c:numCache>
                <c:formatCode>0.00%</c:formatCode>
                <c:ptCount val="8"/>
                <c:pt idx="0">
                  <c:v>0.53529737368952768</c:v>
                </c:pt>
                <c:pt idx="1">
                  <c:v>0.44687859556710147</c:v>
                </c:pt>
                <c:pt idx="2">
                  <c:v>0.42801911661554853</c:v>
                </c:pt>
                <c:pt idx="3">
                  <c:v>0.37881460395690364</c:v>
                </c:pt>
                <c:pt idx="4">
                  <c:v>0.36158330891212248</c:v>
                </c:pt>
                <c:pt idx="5">
                  <c:v>0.32959152799064739</c:v>
                </c:pt>
                <c:pt idx="6">
                  <c:v>0.32072243976696668</c:v>
                </c:pt>
                <c:pt idx="7">
                  <c:v>0.28952520817074107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787-493C-9BD7-1A978E7670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482399"/>
        <c:axId val="114482879"/>
      </c:barChart>
      <c:catAx>
        <c:axId val="114482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482879"/>
        <c:crosses val="autoZero"/>
        <c:auto val="1"/>
        <c:lblAlgn val="ctr"/>
        <c:lblOffset val="100"/>
        <c:noMultiLvlLbl val="0"/>
      </c:catAx>
      <c:valAx>
        <c:axId val="114482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482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95000"/>
        <a:alpha val="50000"/>
      </a:schemeClr>
    </a:solidFill>
    <a:ln w="9525" cap="flat" cmpd="sng" algn="ctr">
      <a:solidFill>
        <a:schemeClr val="bg1">
          <a:lumMod val="9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[Master_automate.xlsm]Gross Margin Vendor %!PivotTable4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Margin by Vendor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0000"/>
          </a:solidFill>
          <a:ln>
            <a:noFill/>
          </a:ln>
          <a:effectLst/>
        </c:spPr>
      </c:pivotFmt>
      <c:pivotFmt>
        <c:idx val="3"/>
        <c:spPr>
          <a:solidFill>
            <a:srgbClr val="EDE4D3"/>
          </a:solidFill>
          <a:ln>
            <a:noFill/>
          </a:ln>
          <a:effectLst/>
        </c:spPr>
      </c:pivotFmt>
      <c:pivotFmt>
        <c:idx val="4"/>
        <c:spPr>
          <a:solidFill>
            <a:srgbClr val="C21D03"/>
          </a:solidFill>
          <a:ln>
            <a:noFill/>
          </a:ln>
          <a:effectLst/>
        </c:spPr>
      </c:pivotFmt>
      <c:pivotFmt>
        <c:idx val="5"/>
        <c:spPr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bg2">
              <a:lumMod val="75000"/>
            </a:schemeClr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bg2">
              <a:lumMod val="75000"/>
            </a:schemeClr>
          </a:solidFill>
          <a:ln>
            <a:noFill/>
          </a:ln>
          <a:effectLst/>
        </c:spPr>
      </c:pivotFmt>
      <c:pivotFmt>
        <c:idx val="9"/>
        <c:spPr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10"/>
        <c:spPr>
          <a:solidFill>
            <a:srgbClr val="C21D03"/>
          </a:solidFill>
          <a:ln>
            <a:noFill/>
          </a:ln>
          <a:effectLst/>
        </c:spPr>
      </c:pivotFmt>
      <c:pivotFmt>
        <c:idx val="11"/>
        <c:spPr>
          <a:solidFill>
            <a:srgbClr val="EDE4D3"/>
          </a:solidFill>
          <a:ln>
            <a:noFill/>
          </a:ln>
          <a:effectLst/>
        </c:spPr>
      </c:pivotFmt>
      <c:pivotFmt>
        <c:idx val="12"/>
        <c:spPr>
          <a:solidFill>
            <a:srgbClr val="FF0000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bg2">
              <a:lumMod val="75000"/>
            </a:schemeClr>
          </a:solidFill>
          <a:ln>
            <a:noFill/>
          </a:ln>
          <a:effectLst/>
        </c:spPr>
      </c:pivotFmt>
      <c:pivotFmt>
        <c:idx val="15"/>
        <c:spPr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16"/>
        <c:spPr>
          <a:solidFill>
            <a:srgbClr val="C21D03"/>
          </a:solidFill>
          <a:ln>
            <a:noFill/>
          </a:ln>
          <a:effectLst/>
        </c:spPr>
      </c:pivotFmt>
      <c:pivotFmt>
        <c:idx val="17"/>
        <c:spPr>
          <a:solidFill>
            <a:srgbClr val="EDE4D3"/>
          </a:solidFill>
          <a:ln>
            <a:noFill/>
          </a:ln>
          <a:effectLst/>
        </c:spPr>
      </c:pivotFmt>
      <c:pivotFmt>
        <c:idx val="18"/>
        <c:spPr>
          <a:solidFill>
            <a:srgbClr val="FF0000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'Gross Margin Vendor %'!$B$1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125-4A83-A861-D954933D4E1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125-4A83-A861-D954933D4E18}"/>
              </c:ext>
            </c:extLst>
          </c:dPt>
          <c:dPt>
            <c:idx val="2"/>
            <c:invertIfNegative val="0"/>
            <c:bubble3D val="0"/>
            <c:spPr>
              <a:solidFill>
                <a:srgbClr val="C21D0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125-4A83-A861-D954933D4E18}"/>
              </c:ext>
            </c:extLst>
          </c:dPt>
          <c:dPt>
            <c:idx val="3"/>
            <c:invertIfNegative val="0"/>
            <c:bubble3D val="0"/>
            <c:spPr>
              <a:solidFill>
                <a:srgbClr val="EDE4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125-4A83-A861-D954933D4E18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125-4A83-A861-D954933D4E18}"/>
              </c:ext>
            </c:extLst>
          </c:dPt>
          <c:cat>
            <c:strRef>
              <c:f>'Gross Margin Vendor %'!$A$2:$A$6</c:f>
              <c:strCache>
                <c:ptCount val="5"/>
                <c:pt idx="0">
                  <c:v>Vendor 1</c:v>
                </c:pt>
                <c:pt idx="1">
                  <c:v>Vendor 2</c:v>
                </c:pt>
                <c:pt idx="2">
                  <c:v>Vendor 3</c:v>
                </c:pt>
                <c:pt idx="3">
                  <c:v>Vendor 4</c:v>
                </c:pt>
                <c:pt idx="4">
                  <c:v>Vendor 5</c:v>
                </c:pt>
              </c:strCache>
            </c:strRef>
          </c:cat>
          <c:val>
            <c:numRef>
              <c:f>'Gross Margin Vendor %'!$B$2:$B$6</c:f>
              <c:numCache>
                <c:formatCode>0.00%</c:formatCode>
                <c:ptCount val="5"/>
                <c:pt idx="0">
                  <c:v>0.3517937553505896</c:v>
                </c:pt>
                <c:pt idx="1">
                  <c:v>0.4081975432290128</c:v>
                </c:pt>
                <c:pt idx="2">
                  <c:v>0.4249187548982627</c:v>
                </c:pt>
                <c:pt idx="3">
                  <c:v>0.35231719278048318</c:v>
                </c:pt>
                <c:pt idx="4">
                  <c:v>0.73614988685740179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125-4A83-A861-D954933D4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92333440"/>
        <c:axId val="1792412752"/>
      </c:barChart>
      <c:catAx>
        <c:axId val="179233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412752"/>
        <c:crosses val="autoZero"/>
        <c:auto val="1"/>
        <c:lblAlgn val="ctr"/>
        <c:lblOffset val="100"/>
        <c:noMultiLvlLbl val="0"/>
      </c:catAx>
      <c:valAx>
        <c:axId val="1792412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333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95000"/>
        <a:alpha val="50000"/>
      </a:schemeClr>
    </a:solidFill>
    <a:ln w="9525" cap="flat" cmpd="sng" algn="ctr">
      <a:solidFill>
        <a:schemeClr val="bg1">
          <a:lumMod val="9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[Master_automate.xlsm]Gross Margin Number Type %!PivotTable5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sz="1200" b="0">
                <a:solidFill>
                  <a:sysClr val="windowText" lastClr="000000"/>
                </a:solidFill>
              </a:rPr>
              <a:t>Gross Margib by No.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lt1"/>
          </a:solidFill>
          <a:ln w="19050">
            <a:solidFill>
              <a:schemeClr val="accen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DD6236"/>
          </a:solidFill>
          <a:ln w="19050">
            <a:solidFill>
              <a:srgbClr val="000000"/>
            </a:solidFill>
          </a:ln>
          <a:effectLst/>
        </c:spPr>
        <c:dLbl>
          <c:idx val="0"/>
          <c:layout>
            <c:manualLayout>
              <c:x val="-3.2853540366277745E-2"/>
              <c:y val="-0.1338481881041308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EDE4D3"/>
          </a:solidFill>
          <a:ln w="19050">
            <a:solidFill>
              <a:srgbClr val="000000"/>
            </a:solidFill>
          </a:ln>
          <a:effectLst/>
        </c:spPr>
        <c:dLbl>
          <c:idx val="0"/>
          <c:layout>
            <c:manualLayout>
              <c:x val="0.21113587724611346"/>
              <c:y val="9.4511535184399947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5071463759337772"/>
                  <c:h val="0.12854574065231331"/>
                </c:manualLayout>
              </c15:layout>
            </c:ext>
          </c:extLst>
        </c:dLbl>
      </c:pivotFmt>
      <c:pivotFmt>
        <c:idx val="4"/>
        <c:spPr>
          <a:solidFill>
            <a:srgbClr val="C21D03"/>
          </a:solidFill>
          <a:ln w="19050">
            <a:solidFill>
              <a:srgbClr val="000000"/>
            </a:solidFill>
          </a:ln>
          <a:effectLst/>
        </c:spPr>
        <c:dLbl>
          <c:idx val="0"/>
          <c:layout>
            <c:manualLayout>
              <c:x val="-0.23090975166565728"/>
              <c:y val="0.1301245979892775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6689230769230767"/>
                  <c:h val="0.13884175512186184"/>
                </c:manualLayout>
              </c15:layout>
            </c:ext>
          </c:extLst>
        </c:dLbl>
      </c:pivotFmt>
      <c:pivotFmt>
        <c:idx val="5"/>
        <c:spPr>
          <a:solidFill>
            <a:schemeClr val="lt1"/>
          </a:solidFill>
          <a:ln w="19050">
            <a:solidFill>
              <a:schemeClr val="accen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EDE4D3"/>
          </a:solidFill>
          <a:ln w="19050">
            <a:solidFill>
              <a:srgbClr val="000000"/>
            </a:solidFill>
          </a:ln>
          <a:effectLst/>
        </c:spPr>
        <c:dLbl>
          <c:idx val="0"/>
          <c:layout>
            <c:manualLayout>
              <c:x val="0.21113587724611346"/>
              <c:y val="9.4511535184399947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5071463759337772"/>
                  <c:h val="0.12854574065231331"/>
                </c:manualLayout>
              </c15:layout>
            </c:ext>
          </c:extLst>
        </c:dLbl>
      </c:pivotFmt>
      <c:pivotFmt>
        <c:idx val="7"/>
        <c:spPr>
          <a:solidFill>
            <a:srgbClr val="C21D03"/>
          </a:solidFill>
          <a:ln w="19050">
            <a:solidFill>
              <a:srgbClr val="000000"/>
            </a:solidFill>
          </a:ln>
          <a:effectLst/>
        </c:spPr>
        <c:dLbl>
          <c:idx val="0"/>
          <c:layout>
            <c:manualLayout>
              <c:x val="-0.23090975166565728"/>
              <c:y val="0.1301245979892775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6689230769230767"/>
                  <c:h val="0.13884175512186184"/>
                </c:manualLayout>
              </c15:layout>
            </c:ext>
          </c:extLst>
        </c:dLbl>
      </c:pivotFmt>
      <c:pivotFmt>
        <c:idx val="8"/>
        <c:spPr>
          <a:solidFill>
            <a:srgbClr val="DD6236"/>
          </a:solidFill>
          <a:ln w="19050">
            <a:solidFill>
              <a:srgbClr val="000000"/>
            </a:solidFill>
          </a:ln>
          <a:effectLst/>
        </c:spPr>
        <c:dLbl>
          <c:idx val="0"/>
          <c:layout>
            <c:manualLayout>
              <c:x val="-3.2853540366277745E-2"/>
              <c:y val="-0.1338481881041308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lt1"/>
          </a:solidFill>
          <a:ln w="19050">
            <a:solidFill>
              <a:schemeClr val="accen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EDE4D3"/>
          </a:solidFill>
          <a:ln w="19050">
            <a:solidFill>
              <a:srgbClr val="000000"/>
            </a:solidFill>
          </a:ln>
          <a:effectLst/>
        </c:spPr>
        <c:dLbl>
          <c:idx val="0"/>
          <c:layout>
            <c:manualLayout>
              <c:x val="0.21113587724611346"/>
              <c:y val="9.4511535184399947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5071463759337772"/>
                  <c:h val="0.12854574065231331"/>
                </c:manualLayout>
              </c15:layout>
            </c:ext>
          </c:extLst>
        </c:dLbl>
      </c:pivotFmt>
      <c:pivotFmt>
        <c:idx val="11"/>
        <c:spPr>
          <a:solidFill>
            <a:srgbClr val="C21D03"/>
          </a:solidFill>
          <a:ln w="19050">
            <a:solidFill>
              <a:srgbClr val="000000"/>
            </a:solidFill>
          </a:ln>
          <a:effectLst/>
        </c:spPr>
        <c:dLbl>
          <c:idx val="0"/>
          <c:layout>
            <c:manualLayout>
              <c:x val="-0.23090975166565728"/>
              <c:y val="0.1301245979892775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6689230769230767"/>
                  <c:h val="0.13884175512186184"/>
                </c:manualLayout>
              </c15:layout>
            </c:ext>
          </c:extLst>
        </c:dLbl>
      </c:pivotFmt>
      <c:pivotFmt>
        <c:idx val="12"/>
        <c:spPr>
          <a:solidFill>
            <a:srgbClr val="DD6236"/>
          </a:solidFill>
          <a:ln w="19050">
            <a:solidFill>
              <a:srgbClr val="000000"/>
            </a:solidFill>
          </a:ln>
          <a:effectLst/>
        </c:spPr>
        <c:dLbl>
          <c:idx val="0"/>
          <c:layout>
            <c:manualLayout>
              <c:x val="-3.2853540366277745E-2"/>
              <c:y val="-0.1338481881041308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0"/>
        <c:ser>
          <c:idx val="0"/>
          <c:order val="0"/>
          <c:tx>
            <c:strRef>
              <c:f>'Gross Margin Number Type %'!$B$1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lt1"/>
            </a:solidFill>
            <a:ln w="19050">
              <a:solidFill>
                <a:schemeClr val="accent1"/>
              </a:solidFill>
            </a:ln>
            <a:effectLst/>
          </c:spPr>
          <c:explosion val="4"/>
          <c:dPt>
            <c:idx val="0"/>
            <c:bubble3D val="0"/>
            <c:spPr>
              <a:solidFill>
                <a:srgbClr val="EDE4D3"/>
              </a:solidFill>
              <a:ln w="19050">
                <a:solidFill>
                  <a:srgbClr val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6A8-4465-9BBC-19DBFBBF68B3}"/>
              </c:ext>
            </c:extLst>
          </c:dPt>
          <c:dPt>
            <c:idx val="1"/>
            <c:bubble3D val="0"/>
            <c:spPr>
              <a:solidFill>
                <a:srgbClr val="C21D03"/>
              </a:solidFill>
              <a:ln w="19050">
                <a:solidFill>
                  <a:srgbClr val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6A8-4465-9BBC-19DBFBBF68B3}"/>
              </c:ext>
            </c:extLst>
          </c:dPt>
          <c:dPt>
            <c:idx val="2"/>
            <c:bubble3D val="0"/>
            <c:spPr>
              <a:solidFill>
                <a:srgbClr val="DD6236"/>
              </a:solidFill>
              <a:ln w="19050">
                <a:solidFill>
                  <a:srgbClr val="0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6A8-4465-9BBC-19DBFBBF68B3}"/>
              </c:ext>
            </c:extLst>
          </c:dPt>
          <c:dLbls>
            <c:dLbl>
              <c:idx val="0"/>
              <c:layout>
                <c:manualLayout>
                  <c:x val="0.21113587724611346"/>
                  <c:y val="9.4511535184399947E-2"/>
                </c:manualLayout>
              </c:layout>
              <c:spPr>
                <a:solidFill>
                  <a:sysClr val="window" lastClr="FFFFFF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071463759337772"/>
                      <c:h val="0.1285457406523133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6A8-4465-9BBC-19DBFBBF68B3}"/>
                </c:ext>
              </c:extLst>
            </c:dLbl>
            <c:dLbl>
              <c:idx val="1"/>
              <c:layout>
                <c:manualLayout>
                  <c:x val="-0.23090975166565728"/>
                  <c:y val="0.1301245979892775"/>
                </c:manualLayout>
              </c:layout>
              <c:spPr>
                <a:solidFill>
                  <a:sysClr val="window" lastClr="FFFFFF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689230769230767"/>
                      <c:h val="0.1388417551218618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6A8-4465-9BBC-19DBFBBF68B3}"/>
                </c:ext>
              </c:extLst>
            </c:dLbl>
            <c:dLbl>
              <c:idx val="2"/>
              <c:layout>
                <c:manualLayout>
                  <c:x val="-3.2853540366277745E-2"/>
                  <c:y val="-0.1338481881041308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6A8-4465-9BBC-19DBFBBF68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'Gross Margin Number Type %'!$A$2:$A$4</c:f>
              <c:strCache>
                <c:ptCount val="3"/>
                <c:pt idx="0">
                  <c:v>ITFS</c:v>
                </c:pt>
                <c:pt idx="1">
                  <c:v>DID</c:v>
                </c:pt>
                <c:pt idx="2">
                  <c:v>TrueLocal</c:v>
                </c:pt>
              </c:strCache>
            </c:strRef>
          </c:cat>
          <c:val>
            <c:numRef>
              <c:f>'Gross Margin Number Type %'!$B$2:$B$4</c:f>
              <c:numCache>
                <c:formatCode>0.00%</c:formatCode>
                <c:ptCount val="3"/>
                <c:pt idx="0">
                  <c:v>0.40633420688671967</c:v>
                </c:pt>
                <c:pt idx="1">
                  <c:v>0.38952564857053185</c:v>
                </c:pt>
                <c:pt idx="2">
                  <c:v>0.33833310878024209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6A8-4465-9BBC-19DBFBBF68B3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23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95000"/>
        <a:alpha val="50000"/>
      </a:schemeClr>
    </a:solidFill>
    <a:ln w="9525" cap="flat" cmpd="sng" algn="ctr">
      <a:solidFill>
        <a:schemeClr val="bg1">
          <a:lumMod val="9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[Master_automate.xlsm]Country|Vendor|Client!PivotTable7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Country|Vendor|Client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'Country|Vendor|Client'!$B$1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'Country|Vendor|Client'!$A$2:$A$39</c:f>
              <c:multiLvlStrCache>
                <c:ptCount val="30"/>
                <c:lvl>
                  <c:pt idx="0">
                    <c:v>Vendor 1</c:v>
                  </c:pt>
                  <c:pt idx="1">
                    <c:v>Vendor 2</c:v>
                  </c:pt>
                  <c:pt idx="2">
                    <c:v>Vendor 3</c:v>
                  </c:pt>
                  <c:pt idx="3">
                    <c:v>Vendor 4</c:v>
                  </c:pt>
                  <c:pt idx="4">
                    <c:v>Vendor 5</c:v>
                  </c:pt>
                  <c:pt idx="5">
                    <c:v>Vendor 2</c:v>
                  </c:pt>
                  <c:pt idx="6">
                    <c:v>Vendor 1</c:v>
                  </c:pt>
                  <c:pt idx="7">
                    <c:v>Vendor 2</c:v>
                  </c:pt>
                  <c:pt idx="8">
                    <c:v>Vendor 3</c:v>
                  </c:pt>
                  <c:pt idx="9">
                    <c:v>Vendor 4</c:v>
                  </c:pt>
                  <c:pt idx="10">
                    <c:v>Vendor 5</c:v>
                  </c:pt>
                  <c:pt idx="11">
                    <c:v>Vendor 1</c:v>
                  </c:pt>
                  <c:pt idx="12">
                    <c:v>Vendor 2</c:v>
                  </c:pt>
                  <c:pt idx="13">
                    <c:v>Vendor 3</c:v>
                  </c:pt>
                  <c:pt idx="14">
                    <c:v>Vendor 4</c:v>
                  </c:pt>
                  <c:pt idx="15">
                    <c:v>Vendor 5</c:v>
                  </c:pt>
                  <c:pt idx="16">
                    <c:v>Vendor 1</c:v>
                  </c:pt>
                  <c:pt idx="17">
                    <c:v>Vendor 2</c:v>
                  </c:pt>
                  <c:pt idx="18">
                    <c:v>Vendor 5</c:v>
                  </c:pt>
                  <c:pt idx="19">
                    <c:v>Vendor 2</c:v>
                  </c:pt>
                  <c:pt idx="20">
                    <c:v>Vendor 3</c:v>
                  </c:pt>
                  <c:pt idx="21">
                    <c:v>Vendor 1</c:v>
                  </c:pt>
                  <c:pt idx="22">
                    <c:v>Vendor 2</c:v>
                  </c:pt>
                  <c:pt idx="23">
                    <c:v>Vendor 3</c:v>
                  </c:pt>
                  <c:pt idx="24">
                    <c:v>Vendor 4</c:v>
                  </c:pt>
                  <c:pt idx="25">
                    <c:v>Vendor 5</c:v>
                  </c:pt>
                  <c:pt idx="26">
                    <c:v>Vendor 2</c:v>
                  </c:pt>
                  <c:pt idx="27">
                    <c:v>Vendor 3</c:v>
                  </c:pt>
                  <c:pt idx="28">
                    <c:v>Vendor 4</c:v>
                  </c:pt>
                  <c:pt idx="29">
                    <c:v>Vendor 5</c:v>
                  </c:pt>
                </c:lvl>
                <c:lvl>
                  <c:pt idx="0">
                    <c:v>Australia</c:v>
                  </c:pt>
                  <c:pt idx="5">
                    <c:v>Chile</c:v>
                  </c:pt>
                  <c:pt idx="6">
                    <c:v>China</c:v>
                  </c:pt>
                  <c:pt idx="11">
                    <c:v>France</c:v>
                  </c:pt>
                  <c:pt idx="16">
                    <c:v>Greece</c:v>
                  </c:pt>
                  <c:pt idx="19">
                    <c:v>South Africa</c:v>
                  </c:pt>
                  <c:pt idx="21">
                    <c:v>United Kingdom</c:v>
                  </c:pt>
                  <c:pt idx="26">
                    <c:v>United States</c:v>
                  </c:pt>
                </c:lvl>
              </c:multiLvlStrCache>
            </c:multiLvlStrRef>
          </c:cat>
          <c:val>
            <c:numRef>
              <c:f>'Country|Vendor|Client'!$B$2:$B$39</c:f>
              <c:numCache>
                <c:formatCode>0.00%</c:formatCode>
                <c:ptCount val="30"/>
                <c:pt idx="0">
                  <c:v>0.53691336189178018</c:v>
                </c:pt>
                <c:pt idx="1">
                  <c:v>0.91465821420467419</c:v>
                </c:pt>
                <c:pt idx="2">
                  <c:v>0.69999999999999962</c:v>
                </c:pt>
                <c:pt idx="3">
                  <c:v>0.85000000000000009</c:v>
                </c:pt>
                <c:pt idx="4">
                  <c:v>0.89952409293755775</c:v>
                </c:pt>
                <c:pt idx="5">
                  <c:v>0.90973320446812689</c:v>
                </c:pt>
                <c:pt idx="6">
                  <c:v>0.55748086501924399</c:v>
                </c:pt>
                <c:pt idx="7">
                  <c:v>0.98083333333333333</c:v>
                </c:pt>
                <c:pt idx="8">
                  <c:v>0.39999999999999997</c:v>
                </c:pt>
                <c:pt idx="9">
                  <c:v>0.49749707406788163</c:v>
                </c:pt>
                <c:pt idx="10">
                  <c:v>0.47500000000000003</c:v>
                </c:pt>
                <c:pt idx="11">
                  <c:v>0.47483581090365745</c:v>
                </c:pt>
                <c:pt idx="12">
                  <c:v>0.98227392739273922</c:v>
                </c:pt>
                <c:pt idx="13">
                  <c:v>0.70000000000000007</c:v>
                </c:pt>
                <c:pt idx="14">
                  <c:v>0.75</c:v>
                </c:pt>
                <c:pt idx="15">
                  <c:v>0.88981949531732552</c:v>
                </c:pt>
                <c:pt idx="16">
                  <c:v>0.42785320529919096</c:v>
                </c:pt>
                <c:pt idx="17">
                  <c:v>0.86645620748299312</c:v>
                </c:pt>
                <c:pt idx="18">
                  <c:v>0.44583215995494235</c:v>
                </c:pt>
                <c:pt idx="19">
                  <c:v>0.9059706854197549</c:v>
                </c:pt>
                <c:pt idx="20">
                  <c:v>0.30260524382242998</c:v>
                </c:pt>
                <c:pt idx="21">
                  <c:v>0.84094637223974755</c:v>
                </c:pt>
                <c:pt idx="22">
                  <c:v>0.93666666666666665</c:v>
                </c:pt>
                <c:pt idx="23">
                  <c:v>0.87266202546914584</c:v>
                </c:pt>
                <c:pt idx="24">
                  <c:v>0.68892575858128757</c:v>
                </c:pt>
                <c:pt idx="25">
                  <c:v>0.95000000000000007</c:v>
                </c:pt>
                <c:pt idx="26">
                  <c:v>0.38966598277925429</c:v>
                </c:pt>
                <c:pt idx="27">
                  <c:v>0.34332587176499552</c:v>
                </c:pt>
                <c:pt idx="28">
                  <c:v>0.54866335044929382</c:v>
                </c:pt>
                <c:pt idx="29">
                  <c:v>0.35872618265440193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08-454A-B2F5-15F80698E6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348393376"/>
        <c:axId val="1348402976"/>
      </c:barChart>
      <c:catAx>
        <c:axId val="13483933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8402976"/>
        <c:crosses val="autoZero"/>
        <c:auto val="1"/>
        <c:lblAlgn val="ctr"/>
        <c:lblOffset val="100"/>
        <c:noMultiLvlLbl val="0"/>
      </c:catAx>
      <c:valAx>
        <c:axId val="13484029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8393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95000"/>
        <a:alpha val="50000"/>
      </a:schemeClr>
    </a:solidFill>
    <a:ln w="9525" cap="flat" cmpd="sng" algn="ctr">
      <a:solidFill>
        <a:schemeClr val="bg1">
          <a:lumMod val="9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0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>
      <cs:styleClr val="0"/>
    </cs:lnRef>
    <cs:fillRef idx="0"/>
    <cs:effectRef idx="0"/>
    <cs:fontRef idx="minor">
      <cs:styleClr val="0"/>
    </cs:fontRef>
    <cs:defRPr sz="900" b="1" kern="1200"/>
  </cs:dataLabel>
  <cs:dataLabelCallout>
    <cs:lnRef idx="0">
      <cs:styleClr val="0"/>
    </cs:lnRef>
    <cs:fillRef idx="0"/>
    <cs:effectRef idx="0"/>
    <cs:fontRef idx="minor">
      <cs:styleClr val="0"/>
    </cs:fontRef>
    <cs:spPr>
      <a:solidFill>
        <a:schemeClr val="lt1"/>
      </a:solidFill>
      <a:ln>
        <a:solidFill>
          <a:schemeClr val="phClr"/>
        </a:solidFill>
      </a:ln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0"/>
    </cs:lnRef>
    <cs:fillRef idx="0"/>
    <cs:effectRef idx="0"/>
    <cs:fontRef idx="minor">
      <a:schemeClr val="dk1"/>
    </cs:fontRef>
    <cs:spPr>
      <a:solidFill>
        <a:schemeClr val="lt1"/>
      </a:solidFill>
      <a:ln w="19050"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/>
          <a:lstStyle/>
          <a:p>
            <a:r>
              <a:rPr lang="en-US" dirty="0"/>
              <a:t>“Company” Data Analysis Report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5F14CD-EDF3-8B78-E669-E5530D470601}"/>
              </a:ext>
            </a:extLst>
          </p:cNvPr>
          <p:cNvSpPr txBox="1"/>
          <p:nvPr/>
        </p:nvSpPr>
        <p:spPr>
          <a:xfrm>
            <a:off x="7366958" y="4016463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</a:t>
            </a:r>
            <a:r>
              <a:rPr lang="en-US" dirty="0" err="1"/>
              <a:t>jan</a:t>
            </a:r>
            <a:r>
              <a:rPr lang="en-US" dirty="0"/>
              <a:t> - </a:t>
            </a:r>
            <a:r>
              <a:rPr lang="en-US" dirty="0" err="1"/>
              <a:t>feb</a:t>
            </a:r>
            <a:r>
              <a:rPr lang="en-US" dirty="0"/>
              <a:t> – Mar”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5AC9-7580-751A-4522-D427165A5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05E9-61D4-B863-2E23-EE6A58818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Method Approach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42019-7671-90C3-6414-45AF0F980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5578" y="1807736"/>
            <a:ext cx="4884391" cy="3402619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Data Manipulation and Cleaning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Analysis &amp; Visualization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Dashboard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Automation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Rate Simulation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Answering Business Questions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Insights &amp; Recommendation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AFDB81-A279-5A65-50F6-E114167C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443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6784"/>
            <a:ext cx="5864352" cy="3621024"/>
          </a:xfrm>
        </p:spPr>
        <p:txBody>
          <a:bodyPr/>
          <a:lstStyle/>
          <a:p>
            <a:r>
              <a:rPr lang="en-US" dirty="0"/>
              <a:t>Data Manipulation &amp; Cleaning</a:t>
            </a:r>
          </a:p>
        </p:txBody>
      </p:sp>
      <p:pic>
        <p:nvPicPr>
          <p:cNvPr id="12" name="Picture Placeholder 11" descr="A person in a yellow shirt">
            <a:extLst>
              <a:ext uri="{FF2B5EF4-FFF2-40B4-BE49-F238E27FC236}">
                <a16:creationId xmlns:a16="http://schemas.microsoft.com/office/drawing/2014/main" id="{BC85F8C0-B84C-01D2-4208-5596D725B2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3" r="33"/>
          <a:stretch/>
        </p:blipFill>
        <p:spPr>
          <a:xfrm>
            <a:off x="-15240" y="-15240"/>
            <a:ext cx="4581525" cy="660241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EBA62D-D162-1DCA-1498-1ED35A5DC5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690112"/>
            <a:ext cx="8297380" cy="708919"/>
          </a:xfrm>
        </p:spPr>
        <p:txBody>
          <a:bodyPr/>
          <a:lstStyle/>
          <a:p>
            <a:r>
              <a:rPr lang="en-US" dirty="0"/>
              <a:t>Data Manipulation &amp; Cleaning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1072" y="1801614"/>
            <a:ext cx="9111336" cy="444500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 dirty="0"/>
              <a:t>Cleaning raw data Column renaming</a:t>
            </a:r>
          </a:p>
          <a:p>
            <a:pPr lvl="1"/>
            <a:r>
              <a:rPr lang="en-US" sz="1200" dirty="0"/>
              <a:t>Integrity Checks</a:t>
            </a:r>
          </a:p>
          <a:p>
            <a:pPr lvl="1"/>
            <a:r>
              <a:rPr lang="en-US" sz="1200" dirty="0"/>
              <a:t>Remove Null </a:t>
            </a:r>
          </a:p>
          <a:p>
            <a:pPr lvl="1"/>
            <a:endParaRPr lang="en-US" sz="1200" dirty="0"/>
          </a:p>
          <a:p>
            <a:pPr marL="342900" indent="-342900">
              <a:buAutoNum type="arabicPeriod" startAt="2"/>
            </a:pPr>
            <a:r>
              <a:rPr lang="en-US" sz="1200" dirty="0"/>
              <a:t>Data Inspection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Understanding the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Removing null values</a:t>
            </a:r>
          </a:p>
          <a:p>
            <a:pPr marL="457200" lvl="1" indent="0">
              <a:buNone/>
            </a:pPr>
            <a:endParaRPr lang="en-US" sz="1200" dirty="0"/>
          </a:p>
          <a:p>
            <a:pPr marL="342900" indent="-342900">
              <a:buAutoNum type="arabicPeriod" startAt="3"/>
            </a:pPr>
            <a:r>
              <a:rPr lang="en-US" sz="1200" dirty="0"/>
              <a:t>Analysis Preparation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Pulling data from multiple sheets and merge into one master sheet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Update new column follow specified rule</a:t>
            </a:r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AB2C5-232C-6AE0-623B-1C87AEE6F4EC}"/>
              </a:ext>
            </a:extLst>
          </p:cNvPr>
          <p:cNvSpPr txBox="1"/>
          <p:nvPr/>
        </p:nvSpPr>
        <p:spPr>
          <a:xfrm>
            <a:off x="5348378" y="1511652"/>
            <a:ext cx="3683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MY" sz="1600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420624"/>
            <a:ext cx="5864352" cy="3621024"/>
          </a:xfrm>
        </p:spPr>
        <p:txBody>
          <a:bodyPr/>
          <a:lstStyle/>
          <a:p>
            <a:r>
              <a:rPr lang="en-US" dirty="0"/>
              <a:t>Analysis </a:t>
            </a:r>
            <a:br>
              <a:rPr lang="en-US" dirty="0"/>
            </a:br>
            <a:r>
              <a:rPr lang="en-US" dirty="0"/>
              <a:t>&amp; Visualization</a:t>
            </a:r>
          </a:p>
        </p:txBody>
      </p:sp>
      <p:pic>
        <p:nvPicPr>
          <p:cNvPr id="10" name="Picture Placeholder 9" descr="A person smiling at a computer">
            <a:extLst>
              <a:ext uri="{FF2B5EF4-FFF2-40B4-BE49-F238E27FC236}">
                <a16:creationId xmlns:a16="http://schemas.microsoft.com/office/drawing/2014/main" id="{0E7DFFA9-9901-3CE7-AAC2-C1754C65BD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8" r="18"/>
          <a:stretch/>
        </p:blipFill>
        <p:spPr>
          <a:xfrm>
            <a:off x="7625969" y="-9144"/>
            <a:ext cx="4581525" cy="6602413"/>
          </a:xfrm>
        </p:spPr>
      </p:pic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Analysis and Visualization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/>
          <a:p>
            <a:r>
              <a:rPr lang="en-US" dirty="0"/>
              <a:t>Answering and Visualizations from the data:</a:t>
            </a:r>
          </a:p>
          <a:p>
            <a:pPr lvl="1"/>
            <a:r>
              <a:rPr lang="en-US" sz="1500" dirty="0"/>
              <a:t>Total Billing per Client</a:t>
            </a:r>
          </a:p>
          <a:p>
            <a:pPr lvl="1"/>
            <a:r>
              <a:rPr lang="en-US" sz="1500" dirty="0"/>
              <a:t>Gross Margins by Client %</a:t>
            </a:r>
          </a:p>
          <a:p>
            <a:pPr lvl="1"/>
            <a:r>
              <a:rPr lang="en-US" sz="1500" dirty="0"/>
              <a:t>Gross Margins by Country %</a:t>
            </a:r>
          </a:p>
          <a:p>
            <a:pPr lvl="1"/>
            <a:r>
              <a:rPr lang="en-US" sz="1500" dirty="0"/>
              <a:t>Gross Margins by Carrier %</a:t>
            </a:r>
          </a:p>
          <a:p>
            <a:pPr lvl="1"/>
            <a:r>
              <a:rPr lang="en-US" sz="1500" dirty="0"/>
              <a:t>Gross Margins by Number %</a:t>
            </a:r>
          </a:p>
          <a:p>
            <a:pPr lvl="1"/>
            <a:r>
              <a:rPr lang="en-US" sz="1500" dirty="0"/>
              <a:t>Total Cost per Vendor</a:t>
            </a:r>
          </a:p>
          <a:p>
            <a:pPr lvl="1"/>
            <a:r>
              <a:rPr lang="en-US" sz="1500" dirty="0"/>
              <a:t>Gross Margin by Country/Carrier/Client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74ADCA3-B23F-3FAF-8FA9-21A6AB28F2A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8469B-FC5A-DF13-97EC-9B9AE361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ACC257C-18CC-6D6A-F509-41CD98769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3" y="73025"/>
            <a:ext cx="10404475" cy="1325563"/>
          </a:xfrm>
        </p:spPr>
        <p:txBody>
          <a:bodyPr/>
          <a:lstStyle/>
          <a:p>
            <a:r>
              <a:rPr lang="en-US" sz="2400" b="1" dirty="0"/>
              <a:t>Total Billing per Client</a:t>
            </a:r>
            <a:endParaRPr lang="en-US" sz="2400" dirty="0"/>
          </a:p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50E5419-A5B6-C51E-9C61-69A045A267C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84008589"/>
              </p:ext>
            </p:extLst>
          </p:nvPr>
        </p:nvGraphicFramePr>
        <p:xfrm>
          <a:off x="893762" y="1587405"/>
          <a:ext cx="2362200" cy="239268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34825027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8617244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Billing per Client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93448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Client 22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1459.01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68502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Client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1650.35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66537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Client 15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2497.68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1405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Client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2584.75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65316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Client 3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4219.41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631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Client 10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10418.98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3224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Client 26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11504.19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27126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Client 8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17142.29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5765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Client 37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20384.75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53373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Client 4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20431.43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8325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92292.84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560621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AB7BFC5-F0BD-C88A-CAB3-F37F5069C5D3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544780327"/>
              </p:ext>
            </p:extLst>
          </p:nvPr>
        </p:nvGraphicFramePr>
        <p:xfrm>
          <a:off x="3581400" y="2245264"/>
          <a:ext cx="4887913" cy="3687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78555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14275-8D82-057B-9B14-C3EAECB9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5DF1C-8BB7-00D1-436A-00562071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2E47DBB2-228E-8D9D-D55F-1BF76F337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3" y="73025"/>
            <a:ext cx="10404475" cy="1325563"/>
          </a:xfrm>
        </p:spPr>
        <p:txBody>
          <a:bodyPr/>
          <a:lstStyle/>
          <a:p>
            <a:r>
              <a:rPr lang="en-US" sz="2400" b="1" dirty="0"/>
              <a:t>Gross Margin by Client %</a:t>
            </a:r>
            <a:endParaRPr lang="en-US" sz="2400" dirty="0"/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4B7AAD-AAA5-9B07-E003-E5720FC37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552172"/>
              </p:ext>
            </p:extLst>
          </p:nvPr>
        </p:nvGraphicFramePr>
        <p:xfrm>
          <a:off x="1716828" y="1157193"/>
          <a:ext cx="1362802" cy="4543614"/>
        </p:xfrm>
        <a:graphic>
          <a:graphicData uri="http://schemas.openxmlformats.org/drawingml/2006/table">
            <a:tbl>
              <a:tblPr/>
              <a:tblGrid>
                <a:gridCol w="445272">
                  <a:extLst>
                    <a:ext uri="{9D8B030D-6E8A-4147-A177-3AD203B41FA5}">
                      <a16:colId xmlns:a16="http://schemas.microsoft.com/office/drawing/2014/main" val="2371771131"/>
                    </a:ext>
                  </a:extLst>
                </a:gridCol>
                <a:gridCol w="917530">
                  <a:extLst>
                    <a:ext uri="{9D8B030D-6E8A-4147-A177-3AD203B41FA5}">
                      <a16:colId xmlns:a16="http://schemas.microsoft.com/office/drawing/2014/main" val="310160017"/>
                    </a:ext>
                  </a:extLst>
                </a:gridCol>
              </a:tblGrid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Gross Margin Percentage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322865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39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98.23%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338355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45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90.59%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183421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18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86.93%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465714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32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85.62%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731169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9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84.20%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956916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7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73.70%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44486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24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70.00%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140696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14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70.00%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602518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42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64.89%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757567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6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63.92%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677968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33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62.52%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087463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43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62.49%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174830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35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57.38%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282083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19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56.07%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167174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40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55.55%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17652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16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55.06%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9997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8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54.61%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964146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44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54.36%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131360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13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53.01%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24398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11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51.20%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671585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41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47.57%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960874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10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47.48%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797718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28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46.66%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152708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30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45.87%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945183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46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45.00%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472997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44.74%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924251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17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43.02%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671263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52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43.01%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573593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34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40.68%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329925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47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40.28%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743754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38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39.84%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3402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12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39.38%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958454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20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38.86%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253990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53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38.81%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638447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36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38.00%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874294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5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37.03%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97760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51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36.99%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310905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31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36.92%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44862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49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36.56%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592668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37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36.31%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9716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4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36.24%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556912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25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35.54%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163917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33.01%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371379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32.93%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913600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29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32.67%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360818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50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32.24%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556313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48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31.10%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083118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15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30.83%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094801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21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30.77%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589559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22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30.16%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912559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26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25.69%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701389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27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24.94%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498089"/>
                  </a:ext>
                </a:extLst>
              </a:tr>
              <a:tr h="84141">
                <a:tc>
                  <a:txBody>
                    <a:bodyPr/>
                    <a:lstStyle/>
                    <a:p>
                      <a:pPr algn="l" fontAlgn="b"/>
                      <a:r>
                        <a:rPr lang="en-MY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23 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20.00%</a:t>
                      </a:r>
                    </a:p>
                  </a:txBody>
                  <a:tcPr marL="3837" marR="3837" marT="383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86444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06D793E-EF45-666C-0578-0C0D17658C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0572450"/>
              </p:ext>
            </p:extLst>
          </p:nvPr>
        </p:nvGraphicFramePr>
        <p:xfrm>
          <a:off x="3719423" y="2131478"/>
          <a:ext cx="6418188" cy="4297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5968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1781-9989-4D92-B534-F4C3F7C95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E99CA24-CC6C-6AFE-0BDA-D75EAB40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17" y="433616"/>
            <a:ext cx="10405174" cy="622655"/>
          </a:xfrm>
        </p:spPr>
        <p:txBody>
          <a:bodyPr anchor="b">
            <a:normAutofit/>
          </a:bodyPr>
          <a:lstStyle/>
          <a:p>
            <a:r>
              <a:rPr lang="en-US" sz="2800" b="1" dirty="0"/>
              <a:t>Gross Margin by Country %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0B4D2-8D90-50AC-AD38-1F62E43C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4A70EA4-6428-13BA-ECA7-13BF9279E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278338"/>
              </p:ext>
            </p:extLst>
          </p:nvPr>
        </p:nvGraphicFramePr>
        <p:xfrm>
          <a:off x="1034600" y="1461429"/>
          <a:ext cx="3171640" cy="3494616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249312">
                  <a:extLst>
                    <a:ext uri="{9D8B030D-6E8A-4147-A177-3AD203B41FA5}">
                      <a16:colId xmlns:a16="http://schemas.microsoft.com/office/drawing/2014/main" val="495228174"/>
                    </a:ext>
                  </a:extLst>
                </a:gridCol>
                <a:gridCol w="1922328">
                  <a:extLst>
                    <a:ext uri="{9D8B030D-6E8A-4147-A177-3AD203B41FA5}">
                      <a16:colId xmlns:a16="http://schemas.microsoft.com/office/drawing/2014/main" val="82704163"/>
                    </a:ext>
                  </a:extLst>
                </a:gridCol>
              </a:tblGrid>
              <a:tr h="549048">
                <a:tc>
                  <a:txBody>
                    <a:bodyPr/>
                    <a:lstStyle/>
                    <a:p>
                      <a:pPr algn="l" fontAlgn="b"/>
                      <a:r>
                        <a:rPr lang="en-MY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Country</a:t>
                      </a:r>
                      <a:endParaRPr lang="en-MY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Gross Margin Percentage</a:t>
                      </a:r>
                      <a:endParaRPr lang="en-MY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extLst>
                  <a:ext uri="{0D108BD9-81ED-4DB2-BD59-A6C34878D82A}">
                    <a16:rowId xmlns:a16="http://schemas.microsoft.com/office/drawing/2014/main" val="1167609523"/>
                  </a:ext>
                </a:extLst>
              </a:tr>
              <a:tr h="549048">
                <a:tc>
                  <a:txBody>
                    <a:bodyPr/>
                    <a:lstStyle/>
                    <a:p>
                      <a:pPr algn="l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United Kingdom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53.53%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extLst>
                  <a:ext uri="{0D108BD9-81ED-4DB2-BD59-A6C34878D82A}">
                    <a16:rowId xmlns:a16="http://schemas.microsoft.com/office/drawing/2014/main" val="2385900714"/>
                  </a:ext>
                </a:extLst>
              </a:tr>
              <a:tr h="342360">
                <a:tc>
                  <a:txBody>
                    <a:bodyPr/>
                    <a:lstStyle/>
                    <a:p>
                      <a:pPr algn="l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France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44.69%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extLst>
                  <a:ext uri="{0D108BD9-81ED-4DB2-BD59-A6C34878D82A}">
                    <a16:rowId xmlns:a16="http://schemas.microsoft.com/office/drawing/2014/main" val="30427067"/>
                  </a:ext>
                </a:extLst>
              </a:tr>
              <a:tr h="342360">
                <a:tc>
                  <a:txBody>
                    <a:bodyPr/>
                    <a:lstStyle/>
                    <a:p>
                      <a:pPr algn="l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South Africa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42.80%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extLst>
                  <a:ext uri="{0D108BD9-81ED-4DB2-BD59-A6C34878D82A}">
                    <a16:rowId xmlns:a16="http://schemas.microsoft.com/office/drawing/2014/main" val="1161780050"/>
                  </a:ext>
                </a:extLst>
              </a:tr>
              <a:tr h="342360">
                <a:tc>
                  <a:txBody>
                    <a:bodyPr/>
                    <a:lstStyle/>
                    <a:p>
                      <a:pPr algn="l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China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37.88%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extLst>
                  <a:ext uri="{0D108BD9-81ED-4DB2-BD59-A6C34878D82A}">
                    <a16:rowId xmlns:a16="http://schemas.microsoft.com/office/drawing/2014/main" val="2941264023"/>
                  </a:ext>
                </a:extLst>
              </a:tr>
              <a:tr h="342360">
                <a:tc>
                  <a:txBody>
                    <a:bodyPr/>
                    <a:lstStyle/>
                    <a:p>
                      <a:pPr algn="l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Greece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36.16%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extLst>
                  <a:ext uri="{0D108BD9-81ED-4DB2-BD59-A6C34878D82A}">
                    <a16:rowId xmlns:a16="http://schemas.microsoft.com/office/drawing/2014/main" val="1099984311"/>
                  </a:ext>
                </a:extLst>
              </a:tr>
              <a:tr h="342360">
                <a:tc>
                  <a:txBody>
                    <a:bodyPr/>
                    <a:lstStyle/>
                    <a:p>
                      <a:pPr algn="l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Australia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32.96%</a:t>
                      </a:r>
                      <a:endParaRPr lang="en-MY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extLst>
                  <a:ext uri="{0D108BD9-81ED-4DB2-BD59-A6C34878D82A}">
                    <a16:rowId xmlns:a16="http://schemas.microsoft.com/office/drawing/2014/main" val="2659467566"/>
                  </a:ext>
                </a:extLst>
              </a:tr>
              <a:tr h="342360">
                <a:tc>
                  <a:txBody>
                    <a:bodyPr/>
                    <a:lstStyle/>
                    <a:p>
                      <a:pPr algn="l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Chile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32.07%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extLst>
                  <a:ext uri="{0D108BD9-81ED-4DB2-BD59-A6C34878D82A}">
                    <a16:rowId xmlns:a16="http://schemas.microsoft.com/office/drawing/2014/main" val="3386393507"/>
                  </a:ext>
                </a:extLst>
              </a:tr>
              <a:tr h="342360">
                <a:tc>
                  <a:txBody>
                    <a:bodyPr/>
                    <a:lstStyle/>
                    <a:p>
                      <a:pPr algn="l" fontAlgn="b"/>
                      <a:r>
                        <a:rPr lang="en-MY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United States</a:t>
                      </a:r>
                      <a:endParaRPr lang="en-MY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28.95%</a:t>
                      </a:r>
                      <a:endParaRPr lang="en-MY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045" marR="17045" marT="17045" marB="0" anchor="b"/>
                </a:tc>
                <a:extLst>
                  <a:ext uri="{0D108BD9-81ED-4DB2-BD59-A6C34878D82A}">
                    <a16:rowId xmlns:a16="http://schemas.microsoft.com/office/drawing/2014/main" val="4171918856"/>
                  </a:ext>
                </a:extLst>
              </a:tr>
            </a:tbl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8A904168-B1CC-8C52-3685-CF64057419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6936243"/>
              </p:ext>
            </p:extLst>
          </p:nvPr>
        </p:nvGraphicFramePr>
        <p:xfrm>
          <a:off x="4848251" y="1683124"/>
          <a:ext cx="5737194" cy="4741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57480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9786-B286-B77E-96AF-706DB144C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898DE-F518-C9BC-3903-A2920D54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C433D36C-2131-0556-EF84-72AE4493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3" y="73025"/>
            <a:ext cx="10404475" cy="1325563"/>
          </a:xfrm>
        </p:spPr>
        <p:txBody>
          <a:bodyPr/>
          <a:lstStyle/>
          <a:p>
            <a:r>
              <a:rPr lang="en-US" sz="2400" b="1" dirty="0"/>
              <a:t>Gross Margin by vendor type %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1474203-29E8-294A-4C5E-72F88C3B4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869012"/>
              </p:ext>
            </p:extLst>
          </p:nvPr>
        </p:nvGraphicFramePr>
        <p:xfrm>
          <a:off x="1179562" y="1723036"/>
          <a:ext cx="2781300" cy="1200150"/>
        </p:xfrm>
        <a:graphic>
          <a:graphicData uri="http://schemas.openxmlformats.org/drawingml/2006/table">
            <a:tbl>
              <a:tblPr/>
              <a:tblGrid>
                <a:gridCol w="1054100">
                  <a:extLst>
                    <a:ext uri="{9D8B030D-6E8A-4147-A177-3AD203B41FA5}">
                      <a16:colId xmlns:a16="http://schemas.microsoft.com/office/drawing/2014/main" val="2440334648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7180445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Vendor Type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Gross Margin Percentage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0711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35.18%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0728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40.82%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1651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42.49%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277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35.23%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4136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73.61%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407069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DA32C8A7-1E75-2515-3391-F0F5AFF73E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9983603"/>
              </p:ext>
            </p:extLst>
          </p:nvPr>
        </p:nvGraphicFramePr>
        <p:xfrm>
          <a:off x="4723855" y="1723036"/>
          <a:ext cx="6194393" cy="4795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1191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8450F-5571-F4E4-9EAA-9443C8354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66214-1201-E645-E88C-35D6134E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9EEA8B6-2F5C-8C21-C61F-1DD78264E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3" y="73025"/>
            <a:ext cx="10404475" cy="1325563"/>
          </a:xfrm>
        </p:spPr>
        <p:txBody>
          <a:bodyPr/>
          <a:lstStyle/>
          <a:p>
            <a:r>
              <a:rPr lang="en-US" sz="2400" b="1" dirty="0"/>
              <a:t>Gross Margin by number type %</a:t>
            </a:r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318DD0A-273A-4135-6BBC-727037DD9B1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550820169"/>
              </p:ext>
            </p:extLst>
          </p:nvPr>
        </p:nvGraphicFramePr>
        <p:xfrm>
          <a:off x="911352" y="1714185"/>
          <a:ext cx="2832100" cy="800100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2563879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874389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Type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Gross Margin Percentage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15154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ITFS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40.63%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36837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38.95%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5536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TrueLocal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33.83%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660453"/>
                  </a:ext>
                </a:extLst>
              </a:tr>
            </a:tbl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D2BF7A3-9019-F48E-109A-2F3F3B79A3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0824529"/>
              </p:ext>
            </p:extLst>
          </p:nvPr>
        </p:nvGraphicFramePr>
        <p:xfrm>
          <a:off x="4649638" y="1483743"/>
          <a:ext cx="6580336" cy="459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2802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18816-B210-F744-A560-FAABF276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FE657-9165-6241-A8F0-5FAC4183A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A46EC90-B626-FFAA-4F78-B71B30660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3" y="73025"/>
            <a:ext cx="10404475" cy="1325563"/>
          </a:xfrm>
        </p:spPr>
        <p:txBody>
          <a:bodyPr/>
          <a:lstStyle/>
          <a:p>
            <a:r>
              <a:rPr lang="en-US" sz="2400" b="1" dirty="0"/>
              <a:t>Gross margin country | vendor | client</a:t>
            </a:r>
            <a:endParaRPr lang="en-US" sz="2400" dirty="0"/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A6166B2-93E7-63CE-CA06-95EA5E1EE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346017"/>
              </p:ext>
            </p:extLst>
          </p:nvPr>
        </p:nvGraphicFramePr>
        <p:xfrm>
          <a:off x="1036722" y="1398588"/>
          <a:ext cx="1671821" cy="4484922"/>
        </p:xfrm>
        <a:graphic>
          <a:graphicData uri="http://schemas.openxmlformats.org/drawingml/2006/table">
            <a:tbl>
              <a:tblPr/>
              <a:tblGrid>
                <a:gridCol w="708399">
                  <a:extLst>
                    <a:ext uri="{9D8B030D-6E8A-4147-A177-3AD203B41FA5}">
                      <a16:colId xmlns:a16="http://schemas.microsoft.com/office/drawing/2014/main" val="2514529435"/>
                    </a:ext>
                  </a:extLst>
                </a:gridCol>
                <a:gridCol w="963422">
                  <a:extLst>
                    <a:ext uri="{9D8B030D-6E8A-4147-A177-3AD203B41FA5}">
                      <a16:colId xmlns:a16="http://schemas.microsoft.com/office/drawing/2014/main" val="4011173055"/>
                    </a:ext>
                  </a:extLst>
                </a:gridCol>
              </a:tblGrid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Row Labels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Gross Margin Percentage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75881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Australia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77.12%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39922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1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53.69%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840088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2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91.47%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598910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3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70.00%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246657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4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85.00%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785301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5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89.95%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686837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Chile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90.97%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687514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2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90.97%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239181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China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43.82%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142541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1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55.75%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014676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2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98.08%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405467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3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40.00%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255427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4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49.75%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873932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5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47.50%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810400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France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59.74%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408637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1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47.48%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932931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2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98.23%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184396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3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70.00%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018146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4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75.00%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106957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5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88.98%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932237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Greece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51.39%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92356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1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42.79%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077885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2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86.65%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372645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5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44.58%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913849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 Africa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38.77%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00204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2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90.60%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05083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3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30.26%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815152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United Kingdom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73.70%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202202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1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84.09%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420727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2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93.67%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535714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3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87.27%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54090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4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68.89%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749817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5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95.00%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82381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United States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38.28%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710840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2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38.97%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602351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3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34.33%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133864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4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54.87%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372626"/>
                  </a:ext>
                </a:extLst>
              </a:tr>
              <a:tr h="114998">
                <a:tc>
                  <a:txBody>
                    <a:bodyPr/>
                    <a:lstStyle/>
                    <a:p>
                      <a:pPr algn="l" fontAlgn="b"/>
                      <a:r>
                        <a:rPr lang="en-MY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5</a:t>
                      </a:r>
                    </a:p>
                  </a:txBody>
                  <a:tcPr marL="63756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MY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35.87%</a:t>
                      </a:r>
                    </a:p>
                  </a:txBody>
                  <a:tcPr marL="5313" marR="5313" marT="53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585517"/>
                  </a:ext>
                </a:extLst>
              </a:tr>
            </a:tbl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F359DAC-45F0-8472-F288-6A55EB6AD6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4080541"/>
              </p:ext>
            </p:extLst>
          </p:nvPr>
        </p:nvGraphicFramePr>
        <p:xfrm>
          <a:off x="3457933" y="1123256"/>
          <a:ext cx="7090914" cy="5398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07514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13D0B-F01D-6F33-E4B0-1493191A50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A1C9-1859-391B-B538-34033BA35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94410-0BCB-9DAF-37CB-49869668B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B42C0931-DF09-591F-E4D4-AEFC5DE9B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3" y="73025"/>
            <a:ext cx="10404475" cy="1325563"/>
          </a:xfrm>
        </p:spPr>
        <p:txBody>
          <a:bodyPr/>
          <a:lstStyle/>
          <a:p>
            <a:r>
              <a:rPr lang="en-US" sz="2400" b="1" dirty="0"/>
              <a:t>Total Billing per Client</a:t>
            </a:r>
            <a:endParaRPr lang="en-US" sz="2400" dirty="0"/>
          </a:p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8F24BC-F63B-5932-0316-6C488B9F6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35" y="0"/>
            <a:ext cx="12162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90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214F-9D47-1AC6-FF01-22BE120F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9503-1EED-684F-9480-07C9D15A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 dirty="0"/>
              <a:t>Automation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42372-C0D6-0CA1-4E1E-71B64DD72C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48615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532D1-B78D-6210-32BD-42C79D8A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B28AFD5-C33C-05AA-A5E4-CF8D12096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Automate: Calculation &amp; Visualization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9ECC6-5E52-EA82-5745-244E794BA5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15213" y="4299448"/>
            <a:ext cx="3002755" cy="194717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Automate flexibility in testing the rate increment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Copying into new file ‘</a:t>
            </a:r>
            <a:r>
              <a:rPr lang="en-US" sz="1600" dirty="0" err="1"/>
              <a:t>master_automate</a:t>
            </a:r>
            <a:r>
              <a:rPr lang="en-US" sz="1600" dirty="0"/>
              <a:t>’ to run as data source for Power BI.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Table to enter different rate value.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40D0DC-9C55-4F56-ECC6-0C8E188E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ACE6A6-A143-AF3B-A331-118B7F783D5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2058669"/>
            <a:ext cx="5342799" cy="2427067"/>
          </a:xfrm>
        </p:spPr>
        <p:txBody>
          <a:bodyPr/>
          <a:lstStyle/>
          <a:p>
            <a:r>
              <a:rPr lang="en-US" dirty="0"/>
              <a:t>VBA :</a:t>
            </a:r>
            <a:br>
              <a:rPr lang="en-US" dirty="0"/>
            </a:br>
            <a:endParaRPr lang="en-MY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45765A-38C0-FE7A-1DE2-C1D1AC90C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557" y="2513162"/>
            <a:ext cx="4010025" cy="1676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DAACAF-9123-07FA-0C2B-B31F7E643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060" y="2272840"/>
            <a:ext cx="5887888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62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5637A-9C88-41FE-6F7F-9E08579BB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F8DC-183E-8069-4BD7-CFE82E838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 dirty="0"/>
              <a:t>Rate Simulation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1369D-945E-DD50-A54A-A6F9E01FC2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16966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CA8C54-30A3-3553-626E-52909A83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Landline and mobile rate increment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7CD95-A6D1-C7C3-F7D9-C0AB6438B2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Automate flexibility in testing the rate increment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Splitting into new </a:t>
            </a:r>
            <a:r>
              <a:rPr lang="en-US" dirty="0" err="1"/>
              <a:t>DataFrame</a:t>
            </a:r>
            <a:r>
              <a:rPr lang="en-US" dirty="0"/>
              <a:t>, security purpose and comparison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Comparing before and after value based on the rate adjusted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E1530412-B066-8DCB-D13E-9B60924F6F0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098709012"/>
              </p:ext>
            </p:extLst>
          </p:nvPr>
        </p:nvGraphicFramePr>
        <p:xfrm>
          <a:off x="911352" y="2247216"/>
          <a:ext cx="6192841" cy="33106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19135">
                  <a:extLst>
                    <a:ext uri="{9D8B030D-6E8A-4147-A177-3AD203B41FA5}">
                      <a16:colId xmlns:a16="http://schemas.microsoft.com/office/drawing/2014/main" val="2991155702"/>
                    </a:ext>
                  </a:extLst>
                </a:gridCol>
                <a:gridCol w="1799673">
                  <a:extLst>
                    <a:ext uri="{9D8B030D-6E8A-4147-A177-3AD203B41FA5}">
                      <a16:colId xmlns:a16="http://schemas.microsoft.com/office/drawing/2014/main" val="1443510053"/>
                    </a:ext>
                  </a:extLst>
                </a:gridCol>
                <a:gridCol w="1554898">
                  <a:extLst>
                    <a:ext uri="{9D8B030D-6E8A-4147-A177-3AD203B41FA5}">
                      <a16:colId xmlns:a16="http://schemas.microsoft.com/office/drawing/2014/main" val="70924254"/>
                    </a:ext>
                  </a:extLst>
                </a:gridCol>
                <a:gridCol w="1419135">
                  <a:extLst>
                    <a:ext uri="{9D8B030D-6E8A-4147-A177-3AD203B41FA5}">
                      <a16:colId xmlns:a16="http://schemas.microsoft.com/office/drawing/2014/main" val="2859665241"/>
                    </a:ext>
                  </a:extLst>
                </a:gridCol>
              </a:tblGrid>
              <a:tr h="300970">
                <a:tc>
                  <a:txBody>
                    <a:bodyPr/>
                    <a:lstStyle/>
                    <a:p>
                      <a:r>
                        <a:rPr lang="en-MY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Customer</a:t>
                      </a:r>
                    </a:p>
                  </a:txBody>
                  <a:tcPr marL="122845" marR="36173" marT="61422" marB="614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Total Billing (Client)</a:t>
                      </a:r>
                    </a:p>
                  </a:txBody>
                  <a:tcPr marL="122845" marR="36173" marT="61422" marB="614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Adjusted Billing</a:t>
                      </a:r>
                    </a:p>
                  </a:txBody>
                  <a:tcPr marL="122845" marR="36173" marT="61422" marB="614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Difference</a:t>
                      </a:r>
                    </a:p>
                  </a:txBody>
                  <a:tcPr marL="122845" marR="36173" marT="61422" marB="614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613517"/>
                  </a:ext>
                </a:extLst>
              </a:tr>
              <a:tr h="300970"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$18,095.18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$20,431.43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$2,336.25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081067"/>
                  </a:ext>
                </a:extLst>
              </a:tr>
              <a:tr h="300970"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37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$18,065.45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$20,384.75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$2,319.30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057080"/>
                  </a:ext>
                </a:extLst>
              </a:tr>
              <a:tr h="300970"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$15,150.11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$17,142.29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$1,992.18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968282"/>
                  </a:ext>
                </a:extLst>
              </a:tr>
              <a:tr h="300970"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26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$10,389.24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$11,504.19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$1,114.95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68243"/>
                  </a:ext>
                </a:extLst>
              </a:tr>
              <a:tr h="300970"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$9,210.20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$10,418.98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$1,208.78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476829"/>
                  </a:ext>
                </a:extLst>
              </a:tr>
              <a:tr h="300970"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$3,809.43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$4,219.41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$409.98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924188"/>
                  </a:ext>
                </a:extLst>
              </a:tr>
              <a:tr h="300970"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$2,288.63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$2,584.75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$296.12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31084"/>
                  </a:ext>
                </a:extLst>
              </a:tr>
              <a:tr h="300970"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15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$2,177.70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$2,497.68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$319.98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071093"/>
                  </a:ext>
                </a:extLst>
              </a:tr>
              <a:tr h="300970"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$1,477.05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$1,650.35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$173.30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742866"/>
                  </a:ext>
                </a:extLst>
              </a:tr>
              <a:tr h="300970"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22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$1,262.53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$1,459.01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$196.48</a:t>
                      </a:r>
                    </a:p>
                  </a:txBody>
                  <a:tcPr marL="122845" marR="36173" marT="61422" marB="61422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18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209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DCCA-67B8-E163-47F1-067E0F4D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A1CEC-634F-F6FB-C5B9-F9A4C6C0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 dirty="0"/>
              <a:t>Business Question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0C2417-1E1A-B22C-29E3-7C9390E136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07988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F8152-4EB2-A895-B923-7D4CA02F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4AC2-A0CF-A23C-2DDA-C669767C1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667" y="246253"/>
            <a:ext cx="10405174" cy="639907"/>
          </a:xfrm>
        </p:spPr>
        <p:txBody>
          <a:bodyPr/>
          <a:lstStyle/>
          <a:p>
            <a:r>
              <a:rPr lang="en-MY" dirty="0"/>
              <a:t>Business Question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691BC-9743-5A9C-67D3-42067611E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5D656CE-2FCD-FE47-25AB-88BEAFC50887}"/>
              </a:ext>
            </a:extLst>
          </p:cNvPr>
          <p:cNvSpPr txBox="1">
            <a:spLocks/>
          </p:cNvSpPr>
          <p:nvPr/>
        </p:nvSpPr>
        <p:spPr>
          <a:xfrm>
            <a:off x="911352" y="1044255"/>
            <a:ext cx="6192838" cy="1801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1700" b="1" dirty="0"/>
              <a:t>Changes if increased the </a:t>
            </a:r>
            <a:r>
              <a:rPr lang="en-US" sz="17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mobile rate by 7% and the landline rate by 20%?</a:t>
            </a:r>
            <a:r>
              <a:rPr lang="en-US" sz="1700" b="1" dirty="0"/>
              <a:t>?</a:t>
            </a:r>
          </a:p>
          <a:p>
            <a:pPr lvl="1"/>
            <a:r>
              <a:rPr lang="en-US" sz="1400" dirty="0"/>
              <a:t>There is no significance changes towards the gross margin except for Total billing per client and Total Cost per vendor</a:t>
            </a:r>
          </a:p>
          <a:p>
            <a:pPr lvl="1"/>
            <a:r>
              <a:rPr lang="en-US" sz="1400" dirty="0"/>
              <a:t>Refer table for the difference:</a:t>
            </a:r>
          </a:p>
          <a:p>
            <a:pPr marL="914400" lvl="2" indent="0">
              <a:buNone/>
            </a:pPr>
            <a:endParaRPr lang="en-US" sz="1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39FA46-4E16-27F6-AA40-C32410238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506698"/>
              </p:ext>
            </p:extLst>
          </p:nvPr>
        </p:nvGraphicFramePr>
        <p:xfrm>
          <a:off x="777446" y="2707600"/>
          <a:ext cx="4467415" cy="3429034"/>
        </p:xfrm>
        <a:graphic>
          <a:graphicData uri="http://schemas.openxmlformats.org/drawingml/2006/table">
            <a:tbl>
              <a:tblPr/>
              <a:tblGrid>
                <a:gridCol w="954509">
                  <a:extLst>
                    <a:ext uri="{9D8B030D-6E8A-4147-A177-3AD203B41FA5}">
                      <a16:colId xmlns:a16="http://schemas.microsoft.com/office/drawing/2014/main" val="1720283593"/>
                    </a:ext>
                  </a:extLst>
                </a:gridCol>
                <a:gridCol w="1142281">
                  <a:extLst>
                    <a:ext uri="{9D8B030D-6E8A-4147-A177-3AD203B41FA5}">
                      <a16:colId xmlns:a16="http://schemas.microsoft.com/office/drawing/2014/main" val="1012839652"/>
                    </a:ext>
                  </a:extLst>
                </a:gridCol>
                <a:gridCol w="1650831">
                  <a:extLst>
                    <a:ext uri="{9D8B030D-6E8A-4147-A177-3AD203B41FA5}">
                      <a16:colId xmlns:a16="http://schemas.microsoft.com/office/drawing/2014/main" val="3407939141"/>
                    </a:ext>
                  </a:extLst>
                </a:gridCol>
                <a:gridCol w="719794">
                  <a:extLst>
                    <a:ext uri="{9D8B030D-6E8A-4147-A177-3AD203B41FA5}">
                      <a16:colId xmlns:a16="http://schemas.microsoft.com/office/drawing/2014/main" val="3620776803"/>
                    </a:ext>
                  </a:extLst>
                </a:gridCol>
              </a:tblGrid>
              <a:tr h="137838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Bill per Client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MY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MY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793983"/>
                  </a:ext>
                </a:extLst>
              </a:tr>
              <a:tr h="137838">
                <a:tc>
                  <a:txBody>
                    <a:bodyPr/>
                    <a:lstStyle/>
                    <a:p>
                      <a:pPr algn="ctr" fontAlgn="b"/>
                      <a:endParaRPr lang="en-MY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MY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MY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MY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227429"/>
                  </a:ext>
                </a:extLst>
              </a:tr>
              <a:tr h="137838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Billing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Billing Adjusted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Difference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729388"/>
                  </a:ext>
                </a:extLst>
              </a:tr>
              <a:tr h="267569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1,262.53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1,459.01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196.48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243024"/>
                  </a:ext>
                </a:extLst>
              </a:tr>
              <a:tr h="267569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1,477.05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1,650.35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173.30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706787"/>
                  </a:ext>
                </a:extLst>
              </a:tr>
              <a:tr h="267569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2,177.70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2,497.68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319.98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372335"/>
                  </a:ext>
                </a:extLst>
              </a:tr>
              <a:tr h="267569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2,288.63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2,584.75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296.12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144066"/>
                  </a:ext>
                </a:extLst>
              </a:tr>
              <a:tr h="267569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3,809.43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  4,219.41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409.98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592728"/>
                  </a:ext>
                </a:extLst>
              </a:tr>
              <a:tr h="267569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10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9,210.20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10,418.98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1,208.78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292442"/>
                  </a:ext>
                </a:extLst>
              </a:tr>
              <a:tr h="267569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26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10,389.24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11,504.19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1,114.95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193838"/>
                  </a:ext>
                </a:extLst>
              </a:tr>
              <a:tr h="267569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15,150.11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17,142.29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1,992.18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723129"/>
                  </a:ext>
                </a:extLst>
              </a:tr>
              <a:tr h="267569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37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18,065.45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20,384.75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2,319.30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074988"/>
                  </a:ext>
                </a:extLst>
              </a:tr>
              <a:tr h="267569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 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18,095.18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20,431.43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2,336.26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310806"/>
                  </a:ext>
                </a:extLst>
              </a:tr>
              <a:tr h="267569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81,925.51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       92,292.84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$ 10,367.33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8242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A1F288-7DBE-7F57-38C2-E8543084A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71986"/>
              </p:ext>
            </p:extLst>
          </p:nvPr>
        </p:nvGraphicFramePr>
        <p:xfrm>
          <a:off x="5832348" y="2708183"/>
          <a:ext cx="5448300" cy="1800225"/>
        </p:xfrm>
        <a:graphic>
          <a:graphicData uri="http://schemas.openxmlformats.org/drawingml/2006/table">
            <a:tbl>
              <a:tblPr/>
              <a:tblGrid>
                <a:gridCol w="1164085">
                  <a:extLst>
                    <a:ext uri="{9D8B030D-6E8A-4147-A177-3AD203B41FA5}">
                      <a16:colId xmlns:a16="http://schemas.microsoft.com/office/drawing/2014/main" val="356698822"/>
                    </a:ext>
                  </a:extLst>
                </a:gridCol>
                <a:gridCol w="1393085">
                  <a:extLst>
                    <a:ext uri="{9D8B030D-6E8A-4147-A177-3AD203B41FA5}">
                      <a16:colId xmlns:a16="http://schemas.microsoft.com/office/drawing/2014/main" val="4049537859"/>
                    </a:ext>
                  </a:extLst>
                </a:gridCol>
                <a:gridCol w="2013295">
                  <a:extLst>
                    <a:ext uri="{9D8B030D-6E8A-4147-A177-3AD203B41FA5}">
                      <a16:colId xmlns:a16="http://schemas.microsoft.com/office/drawing/2014/main" val="2366516509"/>
                    </a:ext>
                  </a:extLst>
                </a:gridCol>
                <a:gridCol w="877835">
                  <a:extLst>
                    <a:ext uri="{9D8B030D-6E8A-4147-A177-3AD203B41FA5}">
                      <a16:colId xmlns:a16="http://schemas.microsoft.com/office/drawing/2014/main" val="293426376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Cost per Vendor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0243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1619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Vendor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Cost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Cost Adjusted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Difference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13413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1639.39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1847.80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8839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4483.61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5086.37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602.76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5544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7186.48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8145.40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958.92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1290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18487.05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20647.52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2160.46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60995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 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19275.99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21776.18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2500.19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85447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51072.52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57503.27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6430.74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066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733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24665-300E-091C-65A7-A36CF1CC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0239D-B55B-ADC7-268C-63247301E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MY" dirty="0"/>
              <a:t>Business Question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934EDA-67D8-DA1B-D0DD-6696132D44B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34445" y="1545453"/>
            <a:ext cx="6192838" cy="227737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What is this data telling us?</a:t>
            </a:r>
            <a:endParaRPr lang="en-US" sz="1800" b="1" dirty="0"/>
          </a:p>
          <a:p>
            <a:pPr lvl="1"/>
            <a:r>
              <a:rPr lang="en-US" sz="1500" dirty="0"/>
              <a:t>There is a clear difference between client billing logic and vendor cost structure, which directly affects profitability.</a:t>
            </a:r>
          </a:p>
          <a:p>
            <a:pPr lvl="1"/>
            <a:r>
              <a:rPr lang="en-US" sz="1500" dirty="0"/>
              <a:t>Certain clients consistently yield lower margins due to:</a:t>
            </a:r>
          </a:p>
          <a:p>
            <a:pPr lvl="2"/>
            <a:r>
              <a:rPr lang="en-MY" sz="1500" dirty="0"/>
              <a:t>High vendor rates</a:t>
            </a:r>
            <a:endParaRPr lang="en-US" sz="1500" dirty="0"/>
          </a:p>
          <a:p>
            <a:pPr lvl="2"/>
            <a:r>
              <a:rPr lang="en-MY" sz="1500" dirty="0"/>
              <a:t>Low client billing rates</a:t>
            </a:r>
            <a:endParaRPr lang="en-US" sz="1500" dirty="0"/>
          </a:p>
          <a:p>
            <a:pPr lvl="2"/>
            <a:r>
              <a:rPr lang="en-US" sz="1500" dirty="0"/>
              <a:t>Short duration calls with inefficient billing increments (e.g., billed per minute but actual call is 10 seconds.</a:t>
            </a:r>
          </a:p>
          <a:p>
            <a:pPr lvl="2"/>
            <a:r>
              <a:rPr lang="en-US" sz="1500" dirty="0"/>
              <a:t>There is a clear difference between client billing logic and vendor cost structure, which directly affects profitability.</a:t>
            </a:r>
          </a:p>
          <a:p>
            <a:pPr lvl="2"/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6D4493-0A75-B924-C65D-7C964A619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809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r>
              <a:rPr lang="en-US" dirty="0"/>
              <a:t>Business Question: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20DBB-F3DD-CE0A-DCE1-63F191C0C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60" y="1604800"/>
            <a:ext cx="10210800" cy="104351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Changes make to have the overall Gross Margin to be at 45% 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To reach a 45% overall gross margin, the company need to reduce the total vendor by approximately </a:t>
            </a:r>
            <a:r>
              <a:rPr lang="en-US" sz="2300" b="1" dirty="0"/>
              <a:t>$4,575.30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The estimation of cost reduction per vendor listed as below:</a:t>
            </a:r>
          </a:p>
          <a:p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3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A1BF106-3771-CDAE-1869-C58DED9F9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926362"/>
              </p:ext>
            </p:extLst>
          </p:nvPr>
        </p:nvGraphicFramePr>
        <p:xfrm>
          <a:off x="899160" y="2558870"/>
          <a:ext cx="3203448" cy="370500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01724">
                  <a:extLst>
                    <a:ext uri="{9D8B030D-6E8A-4147-A177-3AD203B41FA5}">
                      <a16:colId xmlns:a16="http://schemas.microsoft.com/office/drawing/2014/main" val="1542999164"/>
                    </a:ext>
                  </a:extLst>
                </a:gridCol>
                <a:gridCol w="1601724">
                  <a:extLst>
                    <a:ext uri="{9D8B030D-6E8A-4147-A177-3AD203B41FA5}">
                      <a16:colId xmlns:a16="http://schemas.microsoft.com/office/drawing/2014/main" val="1887321376"/>
                    </a:ext>
                  </a:extLst>
                </a:gridCol>
              </a:tblGrid>
              <a:tr h="809405">
                <a:tc>
                  <a:txBody>
                    <a:bodyPr/>
                    <a:lstStyle/>
                    <a:p>
                      <a:r>
                        <a:rPr lang="en-MY" sz="1600" b="1" dirty="0"/>
                        <a:t>Vendor</a:t>
                      </a:r>
                      <a:endParaRPr lang="en-MY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MY" sz="1600" b="1" dirty="0"/>
                        <a:t>Cost Reduction Needed</a:t>
                      </a:r>
                      <a:endParaRPr lang="en-MY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9458466"/>
                  </a:ext>
                </a:extLst>
              </a:tr>
              <a:tr h="5665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Vendor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2900.05</a:t>
                      </a:r>
                    </a:p>
                    <a:p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117071"/>
                  </a:ext>
                </a:extLst>
              </a:tr>
              <a:tr h="5665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Vendor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2821.73</a:t>
                      </a:r>
                    </a:p>
                    <a:p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867706"/>
                  </a:ext>
                </a:extLst>
              </a:tr>
              <a:tr h="5665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Vendor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314.97</a:t>
                      </a:r>
                    </a:p>
                    <a:p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568693"/>
                  </a:ext>
                </a:extLst>
              </a:tr>
              <a:tr h="5665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Vendor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309.29</a:t>
                      </a:r>
                    </a:p>
                    <a:p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318295"/>
                  </a:ext>
                </a:extLst>
              </a:tr>
              <a:tr h="5665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Vendor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-1770.75</a:t>
                      </a:r>
                    </a:p>
                    <a:p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57344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139D905-F9C9-2D22-2C59-7F4A9F0337E1}"/>
              </a:ext>
            </a:extLst>
          </p:cNvPr>
          <p:cNvSpPr txBox="1"/>
          <p:nvPr/>
        </p:nvSpPr>
        <p:spPr>
          <a:xfrm>
            <a:off x="4749007" y="3105834"/>
            <a:ext cx="61886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i="1" dirty="0"/>
              <a:t>Vendor 4 and 1 </a:t>
            </a:r>
            <a:r>
              <a:rPr lang="en-US" sz="1400" dirty="0"/>
              <a:t>accounts for </a:t>
            </a:r>
            <a:r>
              <a:rPr lang="en-US" sz="1400" b="1" dirty="0"/>
              <a:t>~70% </a:t>
            </a:r>
            <a:r>
              <a:rPr lang="en-US" sz="1400" dirty="0"/>
              <a:t>pf the total cost reduction required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i="1" dirty="0"/>
              <a:t>Vendor 5 </a:t>
            </a:r>
            <a:r>
              <a:rPr lang="en-US" sz="1400" dirty="0" err="1"/>
              <a:t>aperforming</a:t>
            </a:r>
            <a:r>
              <a:rPr lang="en-US" sz="1400" dirty="0"/>
              <a:t> above the required margin with a surplus of approximately </a:t>
            </a:r>
            <a:r>
              <a:rPr lang="en-US" sz="1400" b="1" dirty="0"/>
              <a:t>$1770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MY" sz="1400" dirty="0"/>
              <a:t>Vendor 2 and 3 require moderate cost reductions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MY" sz="1400" dirty="0"/>
          </a:p>
          <a:p>
            <a:r>
              <a:rPr lang="en-MY" sz="1400" dirty="0"/>
              <a:t>Conclusion: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Prioritize renegotiations with Vendor 4 and Vendor 1 to bring their pricing closer to the target vendor cost level.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Set cost benchmarks internally based on Vendor 5’s performance.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Explore alternative vendors or lower-cost for high-volume destinations.</a:t>
            </a: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E625C-0956-E6D1-5AFB-70276570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83B34-8026-F08A-94AB-3DA0E7FB3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6784"/>
            <a:ext cx="5864352" cy="3621024"/>
          </a:xfrm>
        </p:spPr>
        <p:txBody>
          <a:bodyPr/>
          <a:lstStyle/>
          <a:p>
            <a:r>
              <a:rPr lang="en-MY" dirty="0"/>
              <a:t>Recommendations and Risks</a:t>
            </a:r>
            <a:endParaRPr lang="en-US" dirty="0"/>
          </a:p>
        </p:txBody>
      </p:sp>
      <p:pic>
        <p:nvPicPr>
          <p:cNvPr id="12" name="Picture Placeholder 11" descr="A person in a yellow shirt">
            <a:extLst>
              <a:ext uri="{FF2B5EF4-FFF2-40B4-BE49-F238E27FC236}">
                <a16:creationId xmlns:a16="http://schemas.microsoft.com/office/drawing/2014/main" id="{C09A7761-2EFD-BA28-F949-6F6CB5E07A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3" r="33"/>
          <a:stretch/>
        </p:blipFill>
        <p:spPr>
          <a:xfrm>
            <a:off x="-15240" y="-15240"/>
            <a:ext cx="4581525" cy="660241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BB333-E907-A6FB-5F73-2D4918FB05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49511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7798" y="653313"/>
            <a:ext cx="6123198" cy="625309"/>
          </a:xfrm>
        </p:spPr>
        <p:txBody>
          <a:bodyPr/>
          <a:lstStyle/>
          <a:p>
            <a:r>
              <a:rPr lang="en-MY" dirty="0"/>
              <a:t>Recommendations and Risks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26E51D-0E5E-98CC-19AE-F6AC7B00BF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9162" y="1434415"/>
            <a:ext cx="6192838" cy="36877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/>
              <a:t>Opportunities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Rethink Routing</a:t>
            </a:r>
            <a:r>
              <a:rPr lang="en-US" sz="1800" dirty="0"/>
              <a:t>: </a:t>
            </a:r>
          </a:p>
          <a:p>
            <a:pPr lvl="1"/>
            <a:r>
              <a:rPr lang="en-US" sz="1800" dirty="0"/>
              <a:t>Some call routes are costing more than they bring in. It’s worth reviewing these and seeing if you can negotiate better deals with vendors or switch to more affordable carriers.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Update Client Agreements</a:t>
            </a:r>
            <a:r>
              <a:rPr lang="en-US" sz="1800" dirty="0"/>
              <a:t>: </a:t>
            </a:r>
          </a:p>
          <a:p>
            <a:pPr lvl="1"/>
            <a:r>
              <a:rPr lang="en-US" sz="1800" dirty="0"/>
              <a:t>A few clients are using a lot of minutes but paying too little. Their contracts might be outdated and not in line with current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Introduce Tiered Pricing</a:t>
            </a:r>
            <a:r>
              <a:rPr lang="en-US" sz="1800" dirty="0"/>
              <a:t>: </a:t>
            </a:r>
          </a:p>
          <a:p>
            <a:pPr lvl="1"/>
            <a:r>
              <a:rPr lang="en-US" sz="1800" dirty="0"/>
              <a:t>Consider offering pricing based on usage levels. This way, high-usage clients pay a bit more, helping to balance out the costs and boost profit margins.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Adjust for Short Calls</a:t>
            </a:r>
            <a:r>
              <a:rPr lang="en-US" sz="1800" dirty="0"/>
              <a:t>: </a:t>
            </a:r>
          </a:p>
          <a:p>
            <a:pPr lvl="1"/>
            <a:r>
              <a:rPr lang="en-US" sz="1800" dirty="0"/>
              <a:t>If a lot of calls are really short, and the billing per second, company could be losing money. Switching to billing in 30-second increments (or similar) could help recover more revenue from those short calls. ( “Follow vendor charging method”).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Rate Adjustment</a:t>
            </a:r>
            <a:r>
              <a:rPr lang="en-US" sz="1800" dirty="0"/>
              <a:t>: </a:t>
            </a:r>
          </a:p>
          <a:p>
            <a:pPr lvl="1"/>
            <a:r>
              <a:rPr lang="en-US" sz="1800" dirty="0"/>
              <a:t>Instead of increasing both the landline and mobile rates across the board, the rate adjustments should focus on improving the company’s margins—not just passing on more profit to the carrier.</a:t>
            </a:r>
          </a:p>
          <a:p>
            <a:pPr lvl="1"/>
            <a:r>
              <a:rPr lang="en-US" sz="1800" dirty="0"/>
              <a:t>For example, raise the rates charged only to the client, not from the vendor. This way, we can avoid a situation where higher vendor costs eat into our revenue and cause a deficit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66D9B1-B2DE-FE8A-1450-3FCCF5FAAE5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7160" y="1434415"/>
            <a:ext cx="4223971" cy="182753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1200" dirty="0">
                <a:latin typeface="Candara" panose="020E0502030303020204" pitchFamily="34" charset="0"/>
              </a:rPr>
              <a:t>Significant margin variability across clients and vendors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1200" dirty="0">
                <a:latin typeface="Candara" panose="020E0502030303020204" pitchFamily="34" charset="0"/>
              </a:rPr>
              <a:t>Short duration calls impact profitability when billed per minute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1200" dirty="0">
                <a:latin typeface="Candara" panose="020E0502030303020204" pitchFamily="34" charset="0"/>
              </a:rPr>
              <a:t>Monthly patterns suggest behavioral or seasonal changes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1200" dirty="0">
                <a:latin typeface="Candara" panose="020E0502030303020204" pitchFamily="34" charset="0"/>
              </a:rPr>
              <a:t>Some vendors are costlier for similar destinations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B27E2BF-66D2-7498-6ADE-EBB002ACC564}"/>
              </a:ext>
            </a:extLst>
          </p:cNvPr>
          <p:cNvSpPr txBox="1">
            <a:spLocks/>
          </p:cNvSpPr>
          <p:nvPr/>
        </p:nvSpPr>
        <p:spPr>
          <a:xfrm>
            <a:off x="545005" y="677317"/>
            <a:ext cx="2875203" cy="6253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MY" dirty="0"/>
              <a:t>Insights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/>
          <a:lstStyle/>
          <a:p>
            <a:r>
              <a:rPr lang="en-US" dirty="0" err="1"/>
              <a:t>Nasrul</a:t>
            </a:r>
            <a:r>
              <a:rPr lang="en-US" dirty="0"/>
              <a:t> Khair</a:t>
            </a:r>
          </a:p>
          <a:p>
            <a:r>
              <a:rPr lang="en-US" dirty="0"/>
              <a:t>017-716 3119</a:t>
            </a:r>
          </a:p>
          <a:p>
            <a:r>
              <a:rPr lang="en-US" dirty="0"/>
              <a:t>nasrul.bursa@gmail.com</a:t>
            </a:r>
          </a:p>
          <a:p>
            <a:r>
              <a:rPr lang="en-US" dirty="0"/>
              <a:t>nasrulkhair.github.io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4D714C4-5FE2-48FA-A21E-ED0E7AD411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01540B-037D-4E23-AFCA-FDDA3CCE13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3F812E-DDE9-40A9-A0BA-64D56AFBFEB8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1579</Words>
  <Application>Microsoft Office PowerPoint</Application>
  <PresentationFormat>Widescreen</PresentationFormat>
  <Paragraphs>512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Avenir Next LT Pro Light</vt:lpstr>
      <vt:lpstr>Calibri</vt:lpstr>
      <vt:lpstr>Candara</vt:lpstr>
      <vt:lpstr>Posterama</vt:lpstr>
      <vt:lpstr>Wingdings</vt:lpstr>
      <vt:lpstr>Custom</vt:lpstr>
      <vt:lpstr>“Company” Data Analysis Report</vt:lpstr>
      <vt:lpstr>Method Approach</vt:lpstr>
      <vt:lpstr>Data Manipulation &amp; Cleaning</vt:lpstr>
      <vt:lpstr>Data Manipulation &amp; Cleaning</vt:lpstr>
      <vt:lpstr>Analysis  &amp; Visualization</vt:lpstr>
      <vt:lpstr>Analysis and Visualization</vt:lpstr>
      <vt:lpstr>Total Billing per Client </vt:lpstr>
      <vt:lpstr>Gross Margin by Client % </vt:lpstr>
      <vt:lpstr>Gross Margin by Country %</vt:lpstr>
      <vt:lpstr>Gross Margin by vendor type %</vt:lpstr>
      <vt:lpstr>Gross Margin by number type %</vt:lpstr>
      <vt:lpstr>Gross margin country | vendor | client </vt:lpstr>
      <vt:lpstr>dashboard</vt:lpstr>
      <vt:lpstr>Total Billing per Client </vt:lpstr>
      <vt:lpstr>Automation</vt:lpstr>
      <vt:lpstr>Automate: Calculation &amp; Visualization</vt:lpstr>
      <vt:lpstr>Rate Simulation</vt:lpstr>
      <vt:lpstr>Landline and mobile rate increment</vt:lpstr>
      <vt:lpstr>Business Question</vt:lpstr>
      <vt:lpstr>Business Question</vt:lpstr>
      <vt:lpstr>Business Question</vt:lpstr>
      <vt:lpstr>Business Question:</vt:lpstr>
      <vt:lpstr>Recommendations and Risks</vt:lpstr>
      <vt:lpstr>Recommendations and Risks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2023-12-19T17:34:13Z</dcterms:created>
  <dcterms:modified xsi:type="dcterms:W3CDTF">2025-04-15T11:31:10Z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